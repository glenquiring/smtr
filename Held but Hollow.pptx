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60" r:id="rId3"/>
    <p:sldId id="263" r:id="rId4"/>
    <p:sldId id="266" r:id="rId5"/>
    <p:sldId id="269" r:id="rId6"/>
    <p:sldId id="272" r:id="rId7"/>
    <p:sldId id="276" r:id="rId8"/>
    <p:sldId id="287" r:id="rId9"/>
    <p:sldId id="280" r:id="rId10"/>
    <p:sldId id="284" r:id="rId11"/>
    <p:sldId id="28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1" autoAdjust="0"/>
    <p:restoredTop sz="94660"/>
  </p:normalViewPr>
  <p:slideViewPr>
    <p:cSldViewPr snapToGrid="0" showGuides="1">
      <p:cViewPr varScale="1">
        <p:scale>
          <a:sx n="146" d="100"/>
          <a:sy n="146" d="100"/>
        </p:scale>
        <p:origin x="552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Year-1 Retention by Acquisition Cohort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Year-1 Retention</c:v>
          </c:tx>
          <c:spPr>
            <a:ln w="28575" cap="rnd">
              <a:solidFill>
                <a:srgbClr val="C55A1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rgbClr val="808080"/>
                </a:solidFill>
                <a:prstDash val="lgDash"/>
              </a:ln>
              <a:effectLst/>
            </c:spPr>
            <c:trendlineType val="linear"/>
            <c:dispRSqr val="0"/>
            <c:dispEq val="0"/>
          </c:trendline>
          <c:cat>
            <c:strRef>
              <c:f>'Donor Retention'!$AN$27:$AN$41</c:f>
              <c:strCache>
                <c:ptCount val="15"/>
                <c:pt idx="0">
                  <c:v>FY2011</c:v>
                </c:pt>
                <c:pt idx="1">
                  <c:v>FY2012</c:v>
                </c:pt>
                <c:pt idx="2">
                  <c:v>FY2013</c:v>
                </c:pt>
                <c:pt idx="3">
                  <c:v>FY2014</c:v>
                </c:pt>
                <c:pt idx="4">
                  <c:v>FY2015</c:v>
                </c:pt>
                <c:pt idx="5">
                  <c:v>FY2016</c:v>
                </c:pt>
                <c:pt idx="6">
                  <c:v>FY2017</c:v>
                </c:pt>
                <c:pt idx="7">
                  <c:v>FY2018</c:v>
                </c:pt>
                <c:pt idx="8">
                  <c:v>FY2019</c:v>
                </c:pt>
                <c:pt idx="9">
                  <c:v>FY2020</c:v>
                </c:pt>
                <c:pt idx="10">
                  <c:v>FY2021</c:v>
                </c:pt>
                <c:pt idx="11">
                  <c:v>FY2022</c:v>
                </c:pt>
                <c:pt idx="12">
                  <c:v>FY2023</c:v>
                </c:pt>
                <c:pt idx="13">
                  <c:v>FY2024</c:v>
                </c:pt>
                <c:pt idx="14">
                  <c:v>FY2025</c:v>
                </c:pt>
              </c:strCache>
            </c:strRef>
          </c:cat>
          <c:val>
            <c:numRef>
              <c:f>'Donor Retention'!$E$27:$E$41</c:f>
              <c:numCache>
                <c:formatCode>0.0%;;\-</c:formatCode>
                <c:ptCount val="15"/>
                <c:pt idx="0">
                  <c:v>0.52225519287833833</c:v>
                </c:pt>
                <c:pt idx="1">
                  <c:v>0.32317073170731708</c:v>
                </c:pt>
                <c:pt idx="2">
                  <c:v>0.34814814814814815</c:v>
                </c:pt>
                <c:pt idx="3">
                  <c:v>0.33035714285714285</c:v>
                </c:pt>
                <c:pt idx="4">
                  <c:v>0.27333333333333332</c:v>
                </c:pt>
                <c:pt idx="5">
                  <c:v>0.18023255813953487</c:v>
                </c:pt>
                <c:pt idx="6">
                  <c:v>0.20754716981132076</c:v>
                </c:pt>
                <c:pt idx="7">
                  <c:v>0.21774193548387097</c:v>
                </c:pt>
                <c:pt idx="8">
                  <c:v>8.4507042253521125E-2</c:v>
                </c:pt>
                <c:pt idx="9">
                  <c:v>0.24691358024691357</c:v>
                </c:pt>
                <c:pt idx="10">
                  <c:v>0.21808510638297873</c:v>
                </c:pt>
                <c:pt idx="11">
                  <c:v>0.31318681318681318</c:v>
                </c:pt>
                <c:pt idx="12">
                  <c:v>0.2857142857142857</c:v>
                </c:pt>
                <c:pt idx="13">
                  <c:v>0.30081300813008133</c:v>
                </c:pt>
                <c:pt idx="14">
                  <c:v>0.19875776397515527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AB3-438D-AD4A-CEABEBB56D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9331488"/>
        <c:axId val="2123943280"/>
      </c:lineChart>
      <c:catAx>
        <c:axId val="1593314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23943280"/>
        <c:crosses val="autoZero"/>
        <c:auto val="1"/>
        <c:lblAlgn val="ctr"/>
        <c:lblOffset val="100"/>
        <c:noMultiLvlLbl val="0"/>
      </c:catAx>
      <c:valAx>
        <c:axId val="2123943280"/>
        <c:scaling>
          <c:orientation val="minMax"/>
          <c:max val="0.6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93314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Cohort Retention Curves (% of cohort giving, by years since first gift)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FY2011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'Donor Retention'!$V$27:$V$42</c:f>
              <c:strCache>
                <c:ptCount val="16"/>
                <c:pt idx="0">
                  <c:v>Year 0</c:v>
                </c:pt>
                <c:pt idx="1">
                  <c:v>Year 1</c:v>
                </c:pt>
                <c:pt idx="2">
                  <c:v>Year 2</c:v>
                </c:pt>
                <c:pt idx="3">
                  <c:v>Year 3</c:v>
                </c:pt>
                <c:pt idx="4">
                  <c:v>Year 4</c:v>
                </c:pt>
                <c:pt idx="5">
                  <c:v>Year 5</c:v>
                </c:pt>
                <c:pt idx="6">
                  <c:v>Year 6</c:v>
                </c:pt>
                <c:pt idx="7">
                  <c:v>Year 7</c:v>
                </c:pt>
                <c:pt idx="8">
                  <c:v>Year 8</c:v>
                </c:pt>
                <c:pt idx="9">
                  <c:v>Year 9</c:v>
                </c:pt>
                <c:pt idx="10">
                  <c:v>Year 10</c:v>
                </c:pt>
                <c:pt idx="11">
                  <c:v>Year 11</c:v>
                </c:pt>
                <c:pt idx="12">
                  <c:v>Year 12</c:v>
                </c:pt>
                <c:pt idx="13">
                  <c:v>Year 13</c:v>
                </c:pt>
                <c:pt idx="14">
                  <c:v>Year 14</c:v>
                </c:pt>
                <c:pt idx="15">
                  <c:v>Year 15</c:v>
                </c:pt>
              </c:strCache>
            </c:strRef>
          </c:cat>
          <c:val>
            <c:numRef>
              <c:f>'Donor Retention'!$W$27:$W$42</c:f>
              <c:numCache>
                <c:formatCode>0.0%;;</c:formatCode>
                <c:ptCount val="16"/>
                <c:pt idx="0">
                  <c:v>1</c:v>
                </c:pt>
                <c:pt idx="1">
                  <c:v>0.52225519287833833</c:v>
                </c:pt>
                <c:pt idx="2">
                  <c:v>0.50148367952522255</c:v>
                </c:pt>
                <c:pt idx="3">
                  <c:v>0.45697329376854601</c:v>
                </c:pt>
                <c:pt idx="4">
                  <c:v>0.47477744807121663</c:v>
                </c:pt>
                <c:pt idx="5">
                  <c:v>0.44807121661721067</c:v>
                </c:pt>
                <c:pt idx="6">
                  <c:v>0.39762611275964393</c:v>
                </c:pt>
                <c:pt idx="7">
                  <c:v>0.3827893175074184</c:v>
                </c:pt>
                <c:pt idx="8">
                  <c:v>0.33234421364985162</c:v>
                </c:pt>
                <c:pt idx="9">
                  <c:v>0.36201780415430268</c:v>
                </c:pt>
                <c:pt idx="10">
                  <c:v>0.31157270029673589</c:v>
                </c:pt>
                <c:pt idx="11">
                  <c:v>0.3056379821958457</c:v>
                </c:pt>
                <c:pt idx="12">
                  <c:v>0.26409495548961426</c:v>
                </c:pt>
                <c:pt idx="13">
                  <c:v>0.24332344213649851</c:v>
                </c:pt>
                <c:pt idx="14">
                  <c:v>0.21958456973293769</c:v>
                </c:pt>
                <c:pt idx="15">
                  <c:v>0.22255192878338279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A55-4821-8364-8382B753347E}"/>
            </c:ext>
          </c:extLst>
        </c:ser>
        <c:ser>
          <c:idx val="1"/>
          <c:order val="1"/>
          <c:tx>
            <c:v>FY2012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'Donor Retention'!$V$27:$V$42</c:f>
              <c:strCache>
                <c:ptCount val="16"/>
                <c:pt idx="0">
                  <c:v>Year 0</c:v>
                </c:pt>
                <c:pt idx="1">
                  <c:v>Year 1</c:v>
                </c:pt>
                <c:pt idx="2">
                  <c:v>Year 2</c:v>
                </c:pt>
                <c:pt idx="3">
                  <c:v>Year 3</c:v>
                </c:pt>
                <c:pt idx="4">
                  <c:v>Year 4</c:v>
                </c:pt>
                <c:pt idx="5">
                  <c:v>Year 5</c:v>
                </c:pt>
                <c:pt idx="6">
                  <c:v>Year 6</c:v>
                </c:pt>
                <c:pt idx="7">
                  <c:v>Year 7</c:v>
                </c:pt>
                <c:pt idx="8">
                  <c:v>Year 8</c:v>
                </c:pt>
                <c:pt idx="9">
                  <c:v>Year 9</c:v>
                </c:pt>
                <c:pt idx="10">
                  <c:v>Year 10</c:v>
                </c:pt>
                <c:pt idx="11">
                  <c:v>Year 11</c:v>
                </c:pt>
                <c:pt idx="12">
                  <c:v>Year 12</c:v>
                </c:pt>
                <c:pt idx="13">
                  <c:v>Year 13</c:v>
                </c:pt>
                <c:pt idx="14">
                  <c:v>Year 14</c:v>
                </c:pt>
                <c:pt idx="15">
                  <c:v>Year 15</c:v>
                </c:pt>
              </c:strCache>
            </c:strRef>
          </c:cat>
          <c:val>
            <c:numRef>
              <c:f>'Donor Retention'!$X$27:$X$42</c:f>
              <c:numCache>
                <c:formatCode>0.0%;;</c:formatCode>
                <c:ptCount val="16"/>
                <c:pt idx="0">
                  <c:v>1</c:v>
                </c:pt>
                <c:pt idx="1">
                  <c:v>0.32317073170731708</c:v>
                </c:pt>
                <c:pt idx="2">
                  <c:v>0.31707317073170732</c:v>
                </c:pt>
                <c:pt idx="3">
                  <c:v>0.32317073170731708</c:v>
                </c:pt>
                <c:pt idx="4">
                  <c:v>0.29268292682926828</c:v>
                </c:pt>
                <c:pt idx="5">
                  <c:v>0.28048780487804881</c:v>
                </c:pt>
                <c:pt idx="6">
                  <c:v>0.24390243902439024</c:v>
                </c:pt>
                <c:pt idx="7">
                  <c:v>0.20121951219512196</c:v>
                </c:pt>
                <c:pt idx="8">
                  <c:v>0.1951219512195122</c:v>
                </c:pt>
                <c:pt idx="9">
                  <c:v>0.1951219512195122</c:v>
                </c:pt>
                <c:pt idx="10">
                  <c:v>0.1951219512195122</c:v>
                </c:pt>
                <c:pt idx="11">
                  <c:v>0.1951219512195122</c:v>
                </c:pt>
                <c:pt idx="12">
                  <c:v>0.18902439024390244</c:v>
                </c:pt>
                <c:pt idx="13">
                  <c:v>0.17073170731707318</c:v>
                </c:pt>
                <c:pt idx="14">
                  <c:v>0.16463414634146342</c:v>
                </c:pt>
                <c:pt idx="15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A55-4821-8364-8382B753347E}"/>
            </c:ext>
          </c:extLst>
        </c:ser>
        <c:ser>
          <c:idx val="2"/>
          <c:order val="2"/>
          <c:tx>
            <c:v>FY2013</c:v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'Donor Retention'!$V$27:$V$42</c:f>
              <c:strCache>
                <c:ptCount val="16"/>
                <c:pt idx="0">
                  <c:v>Year 0</c:v>
                </c:pt>
                <c:pt idx="1">
                  <c:v>Year 1</c:v>
                </c:pt>
                <c:pt idx="2">
                  <c:v>Year 2</c:v>
                </c:pt>
                <c:pt idx="3">
                  <c:v>Year 3</c:v>
                </c:pt>
                <c:pt idx="4">
                  <c:v>Year 4</c:v>
                </c:pt>
                <c:pt idx="5">
                  <c:v>Year 5</c:v>
                </c:pt>
                <c:pt idx="6">
                  <c:v>Year 6</c:v>
                </c:pt>
                <c:pt idx="7">
                  <c:v>Year 7</c:v>
                </c:pt>
                <c:pt idx="8">
                  <c:v>Year 8</c:v>
                </c:pt>
                <c:pt idx="9">
                  <c:v>Year 9</c:v>
                </c:pt>
                <c:pt idx="10">
                  <c:v>Year 10</c:v>
                </c:pt>
                <c:pt idx="11">
                  <c:v>Year 11</c:v>
                </c:pt>
                <c:pt idx="12">
                  <c:v>Year 12</c:v>
                </c:pt>
                <c:pt idx="13">
                  <c:v>Year 13</c:v>
                </c:pt>
                <c:pt idx="14">
                  <c:v>Year 14</c:v>
                </c:pt>
                <c:pt idx="15">
                  <c:v>Year 15</c:v>
                </c:pt>
              </c:strCache>
            </c:strRef>
          </c:cat>
          <c:val>
            <c:numRef>
              <c:f>'Donor Retention'!$Y$27:$Y$42</c:f>
              <c:numCache>
                <c:formatCode>0.0%;;</c:formatCode>
                <c:ptCount val="16"/>
                <c:pt idx="0">
                  <c:v>1</c:v>
                </c:pt>
                <c:pt idx="1">
                  <c:v>0.34814814814814815</c:v>
                </c:pt>
                <c:pt idx="2">
                  <c:v>0.29629629629629628</c:v>
                </c:pt>
                <c:pt idx="3">
                  <c:v>0.27407407407407408</c:v>
                </c:pt>
                <c:pt idx="4">
                  <c:v>0.27407407407407408</c:v>
                </c:pt>
                <c:pt idx="5">
                  <c:v>0.23703703703703705</c:v>
                </c:pt>
                <c:pt idx="6">
                  <c:v>0.17777777777777778</c:v>
                </c:pt>
                <c:pt idx="7">
                  <c:v>0.15555555555555556</c:v>
                </c:pt>
                <c:pt idx="8">
                  <c:v>0.17037037037037037</c:v>
                </c:pt>
                <c:pt idx="9">
                  <c:v>0.1111111111111111</c:v>
                </c:pt>
                <c:pt idx="10">
                  <c:v>0.13333333333333333</c:v>
                </c:pt>
                <c:pt idx="11">
                  <c:v>0.1037037037037037</c:v>
                </c:pt>
                <c:pt idx="12">
                  <c:v>0.11851851851851852</c:v>
                </c:pt>
                <c:pt idx="13">
                  <c:v>0.1037037037037037</c:v>
                </c:pt>
                <c:pt idx="14">
                  <c:v>#N/A</c:v>
                </c:pt>
                <c:pt idx="15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A55-4821-8364-8382B753347E}"/>
            </c:ext>
          </c:extLst>
        </c:ser>
        <c:ser>
          <c:idx val="3"/>
          <c:order val="3"/>
          <c:tx>
            <c:v>FY2014</c:v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'Donor Retention'!$V$27:$V$42</c:f>
              <c:strCache>
                <c:ptCount val="16"/>
                <c:pt idx="0">
                  <c:v>Year 0</c:v>
                </c:pt>
                <c:pt idx="1">
                  <c:v>Year 1</c:v>
                </c:pt>
                <c:pt idx="2">
                  <c:v>Year 2</c:v>
                </c:pt>
                <c:pt idx="3">
                  <c:v>Year 3</c:v>
                </c:pt>
                <c:pt idx="4">
                  <c:v>Year 4</c:v>
                </c:pt>
                <c:pt idx="5">
                  <c:v>Year 5</c:v>
                </c:pt>
                <c:pt idx="6">
                  <c:v>Year 6</c:v>
                </c:pt>
                <c:pt idx="7">
                  <c:v>Year 7</c:v>
                </c:pt>
                <c:pt idx="8">
                  <c:v>Year 8</c:v>
                </c:pt>
                <c:pt idx="9">
                  <c:v>Year 9</c:v>
                </c:pt>
                <c:pt idx="10">
                  <c:v>Year 10</c:v>
                </c:pt>
                <c:pt idx="11">
                  <c:v>Year 11</c:v>
                </c:pt>
                <c:pt idx="12">
                  <c:v>Year 12</c:v>
                </c:pt>
                <c:pt idx="13">
                  <c:v>Year 13</c:v>
                </c:pt>
                <c:pt idx="14">
                  <c:v>Year 14</c:v>
                </c:pt>
                <c:pt idx="15">
                  <c:v>Year 15</c:v>
                </c:pt>
              </c:strCache>
            </c:strRef>
          </c:cat>
          <c:val>
            <c:numRef>
              <c:f>'Donor Retention'!$Z$27:$Z$42</c:f>
              <c:numCache>
                <c:formatCode>0.0%;;</c:formatCode>
                <c:ptCount val="16"/>
                <c:pt idx="0">
                  <c:v>1</c:v>
                </c:pt>
                <c:pt idx="1">
                  <c:v>0.33035714285714285</c:v>
                </c:pt>
                <c:pt idx="2">
                  <c:v>0.29464285714285715</c:v>
                </c:pt>
                <c:pt idx="3">
                  <c:v>0.24107142857142858</c:v>
                </c:pt>
                <c:pt idx="4">
                  <c:v>0.25</c:v>
                </c:pt>
                <c:pt idx="5">
                  <c:v>0.20535714285714285</c:v>
                </c:pt>
                <c:pt idx="6">
                  <c:v>0.13392857142857142</c:v>
                </c:pt>
                <c:pt idx="7">
                  <c:v>0.16964285714285715</c:v>
                </c:pt>
                <c:pt idx="8">
                  <c:v>0.125</c:v>
                </c:pt>
                <c:pt idx="9">
                  <c:v>0.15178571428571427</c:v>
                </c:pt>
                <c:pt idx="10">
                  <c:v>8.9285714285714288E-2</c:v>
                </c:pt>
                <c:pt idx="11">
                  <c:v>8.9285714285714288E-2</c:v>
                </c:pt>
                <c:pt idx="12">
                  <c:v>0.10714285714285714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A55-4821-8364-8382B753347E}"/>
            </c:ext>
          </c:extLst>
        </c:ser>
        <c:ser>
          <c:idx val="4"/>
          <c:order val="4"/>
          <c:tx>
            <c:v>FY2015</c:v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'Donor Retention'!$V$27:$V$42</c:f>
              <c:strCache>
                <c:ptCount val="16"/>
                <c:pt idx="0">
                  <c:v>Year 0</c:v>
                </c:pt>
                <c:pt idx="1">
                  <c:v>Year 1</c:v>
                </c:pt>
                <c:pt idx="2">
                  <c:v>Year 2</c:v>
                </c:pt>
                <c:pt idx="3">
                  <c:v>Year 3</c:v>
                </c:pt>
                <c:pt idx="4">
                  <c:v>Year 4</c:v>
                </c:pt>
                <c:pt idx="5">
                  <c:v>Year 5</c:v>
                </c:pt>
                <c:pt idx="6">
                  <c:v>Year 6</c:v>
                </c:pt>
                <c:pt idx="7">
                  <c:v>Year 7</c:v>
                </c:pt>
                <c:pt idx="8">
                  <c:v>Year 8</c:v>
                </c:pt>
                <c:pt idx="9">
                  <c:v>Year 9</c:v>
                </c:pt>
                <c:pt idx="10">
                  <c:v>Year 10</c:v>
                </c:pt>
                <c:pt idx="11">
                  <c:v>Year 11</c:v>
                </c:pt>
                <c:pt idx="12">
                  <c:v>Year 12</c:v>
                </c:pt>
                <c:pt idx="13">
                  <c:v>Year 13</c:v>
                </c:pt>
                <c:pt idx="14">
                  <c:v>Year 14</c:v>
                </c:pt>
                <c:pt idx="15">
                  <c:v>Year 15</c:v>
                </c:pt>
              </c:strCache>
            </c:strRef>
          </c:cat>
          <c:val>
            <c:numRef>
              <c:f>'Donor Retention'!$AA$27:$AA$42</c:f>
              <c:numCache>
                <c:formatCode>0.0%;;</c:formatCode>
                <c:ptCount val="16"/>
                <c:pt idx="0">
                  <c:v>1</c:v>
                </c:pt>
                <c:pt idx="1">
                  <c:v>0.27333333333333332</c:v>
                </c:pt>
                <c:pt idx="2">
                  <c:v>0.22666666666666666</c:v>
                </c:pt>
                <c:pt idx="3">
                  <c:v>0.22</c:v>
                </c:pt>
                <c:pt idx="4">
                  <c:v>0.2</c:v>
                </c:pt>
                <c:pt idx="5">
                  <c:v>0.16666666666666666</c:v>
                </c:pt>
                <c:pt idx="6">
                  <c:v>0.18</c:v>
                </c:pt>
                <c:pt idx="7">
                  <c:v>0.14000000000000001</c:v>
                </c:pt>
                <c:pt idx="8">
                  <c:v>0.15333333333333332</c:v>
                </c:pt>
                <c:pt idx="9">
                  <c:v>0.14000000000000001</c:v>
                </c:pt>
                <c:pt idx="10">
                  <c:v>0.12</c:v>
                </c:pt>
                <c:pt idx="11">
                  <c:v>0.12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7A55-4821-8364-8382B753347E}"/>
            </c:ext>
          </c:extLst>
        </c:ser>
        <c:ser>
          <c:idx val="5"/>
          <c:order val="5"/>
          <c:tx>
            <c:v>FY2016</c:v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strRef>
              <c:f>'Donor Retention'!$V$27:$V$42</c:f>
              <c:strCache>
                <c:ptCount val="16"/>
                <c:pt idx="0">
                  <c:v>Year 0</c:v>
                </c:pt>
                <c:pt idx="1">
                  <c:v>Year 1</c:v>
                </c:pt>
                <c:pt idx="2">
                  <c:v>Year 2</c:v>
                </c:pt>
                <c:pt idx="3">
                  <c:v>Year 3</c:v>
                </c:pt>
                <c:pt idx="4">
                  <c:v>Year 4</c:v>
                </c:pt>
                <c:pt idx="5">
                  <c:v>Year 5</c:v>
                </c:pt>
                <c:pt idx="6">
                  <c:v>Year 6</c:v>
                </c:pt>
                <c:pt idx="7">
                  <c:v>Year 7</c:v>
                </c:pt>
                <c:pt idx="8">
                  <c:v>Year 8</c:v>
                </c:pt>
                <c:pt idx="9">
                  <c:v>Year 9</c:v>
                </c:pt>
                <c:pt idx="10">
                  <c:v>Year 10</c:v>
                </c:pt>
                <c:pt idx="11">
                  <c:v>Year 11</c:v>
                </c:pt>
                <c:pt idx="12">
                  <c:v>Year 12</c:v>
                </c:pt>
                <c:pt idx="13">
                  <c:v>Year 13</c:v>
                </c:pt>
                <c:pt idx="14">
                  <c:v>Year 14</c:v>
                </c:pt>
                <c:pt idx="15">
                  <c:v>Year 15</c:v>
                </c:pt>
              </c:strCache>
            </c:strRef>
          </c:cat>
          <c:val>
            <c:numRef>
              <c:f>'Donor Retention'!$AB$27:$AB$42</c:f>
              <c:numCache>
                <c:formatCode>0.0%;;</c:formatCode>
                <c:ptCount val="16"/>
                <c:pt idx="0">
                  <c:v>1</c:v>
                </c:pt>
                <c:pt idx="1">
                  <c:v>0.18023255813953487</c:v>
                </c:pt>
                <c:pt idx="2">
                  <c:v>0.15116279069767441</c:v>
                </c:pt>
                <c:pt idx="3">
                  <c:v>0.11046511627906977</c:v>
                </c:pt>
                <c:pt idx="4">
                  <c:v>8.7209302325581398E-2</c:v>
                </c:pt>
                <c:pt idx="5">
                  <c:v>0.11627906976744186</c:v>
                </c:pt>
                <c:pt idx="6">
                  <c:v>0.11046511627906977</c:v>
                </c:pt>
                <c:pt idx="7">
                  <c:v>7.5581395348837205E-2</c:v>
                </c:pt>
                <c:pt idx="8">
                  <c:v>7.5581395348837205E-2</c:v>
                </c:pt>
                <c:pt idx="9">
                  <c:v>6.3953488372093026E-2</c:v>
                </c:pt>
                <c:pt idx="10">
                  <c:v>6.9767441860465115E-2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7A55-4821-8364-8382B753347E}"/>
            </c:ext>
          </c:extLst>
        </c:ser>
        <c:ser>
          <c:idx val="6"/>
          <c:order val="6"/>
          <c:tx>
            <c:v>FY2017</c:v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'Donor Retention'!$V$27:$V$42</c:f>
              <c:strCache>
                <c:ptCount val="16"/>
                <c:pt idx="0">
                  <c:v>Year 0</c:v>
                </c:pt>
                <c:pt idx="1">
                  <c:v>Year 1</c:v>
                </c:pt>
                <c:pt idx="2">
                  <c:v>Year 2</c:v>
                </c:pt>
                <c:pt idx="3">
                  <c:v>Year 3</c:v>
                </c:pt>
                <c:pt idx="4">
                  <c:v>Year 4</c:v>
                </c:pt>
                <c:pt idx="5">
                  <c:v>Year 5</c:v>
                </c:pt>
                <c:pt idx="6">
                  <c:v>Year 6</c:v>
                </c:pt>
                <c:pt idx="7">
                  <c:v>Year 7</c:v>
                </c:pt>
                <c:pt idx="8">
                  <c:v>Year 8</c:v>
                </c:pt>
                <c:pt idx="9">
                  <c:v>Year 9</c:v>
                </c:pt>
                <c:pt idx="10">
                  <c:v>Year 10</c:v>
                </c:pt>
                <c:pt idx="11">
                  <c:v>Year 11</c:v>
                </c:pt>
                <c:pt idx="12">
                  <c:v>Year 12</c:v>
                </c:pt>
                <c:pt idx="13">
                  <c:v>Year 13</c:v>
                </c:pt>
                <c:pt idx="14">
                  <c:v>Year 14</c:v>
                </c:pt>
                <c:pt idx="15">
                  <c:v>Year 15</c:v>
                </c:pt>
              </c:strCache>
            </c:strRef>
          </c:cat>
          <c:val>
            <c:numRef>
              <c:f>'Donor Retention'!$AC$27:$AC$42</c:f>
              <c:numCache>
                <c:formatCode>0.0%;;</c:formatCode>
                <c:ptCount val="16"/>
                <c:pt idx="0">
                  <c:v>1</c:v>
                </c:pt>
                <c:pt idx="1">
                  <c:v>0.20754716981132076</c:v>
                </c:pt>
                <c:pt idx="2">
                  <c:v>0.13679245283018868</c:v>
                </c:pt>
                <c:pt idx="3">
                  <c:v>0.15094339622641509</c:v>
                </c:pt>
                <c:pt idx="4">
                  <c:v>0.16037735849056603</c:v>
                </c:pt>
                <c:pt idx="5">
                  <c:v>0.11320754716981132</c:v>
                </c:pt>
                <c:pt idx="6">
                  <c:v>9.4339622641509441E-2</c:v>
                </c:pt>
                <c:pt idx="7">
                  <c:v>0.11320754716981132</c:v>
                </c:pt>
                <c:pt idx="8">
                  <c:v>0.11320754716981132</c:v>
                </c:pt>
                <c:pt idx="9">
                  <c:v>0.10849056603773585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7A55-4821-8364-8382B753347E}"/>
            </c:ext>
          </c:extLst>
        </c:ser>
        <c:ser>
          <c:idx val="7"/>
          <c:order val="7"/>
          <c:tx>
            <c:v>FY2018</c:v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'Donor Retention'!$V$27:$V$42</c:f>
              <c:strCache>
                <c:ptCount val="16"/>
                <c:pt idx="0">
                  <c:v>Year 0</c:v>
                </c:pt>
                <c:pt idx="1">
                  <c:v>Year 1</c:v>
                </c:pt>
                <c:pt idx="2">
                  <c:v>Year 2</c:v>
                </c:pt>
                <c:pt idx="3">
                  <c:v>Year 3</c:v>
                </c:pt>
                <c:pt idx="4">
                  <c:v>Year 4</c:v>
                </c:pt>
                <c:pt idx="5">
                  <c:v>Year 5</c:v>
                </c:pt>
                <c:pt idx="6">
                  <c:v>Year 6</c:v>
                </c:pt>
                <c:pt idx="7">
                  <c:v>Year 7</c:v>
                </c:pt>
                <c:pt idx="8">
                  <c:v>Year 8</c:v>
                </c:pt>
                <c:pt idx="9">
                  <c:v>Year 9</c:v>
                </c:pt>
                <c:pt idx="10">
                  <c:v>Year 10</c:v>
                </c:pt>
                <c:pt idx="11">
                  <c:v>Year 11</c:v>
                </c:pt>
                <c:pt idx="12">
                  <c:v>Year 12</c:v>
                </c:pt>
                <c:pt idx="13">
                  <c:v>Year 13</c:v>
                </c:pt>
                <c:pt idx="14">
                  <c:v>Year 14</c:v>
                </c:pt>
                <c:pt idx="15">
                  <c:v>Year 15</c:v>
                </c:pt>
              </c:strCache>
            </c:strRef>
          </c:cat>
          <c:val>
            <c:numRef>
              <c:f>'Donor Retention'!$AD$27:$AD$42</c:f>
              <c:numCache>
                <c:formatCode>0.0%;;</c:formatCode>
                <c:ptCount val="16"/>
                <c:pt idx="0">
                  <c:v>1</c:v>
                </c:pt>
                <c:pt idx="1">
                  <c:v>0.21774193548387097</c:v>
                </c:pt>
                <c:pt idx="2">
                  <c:v>0.22580645161290322</c:v>
                </c:pt>
                <c:pt idx="3">
                  <c:v>0.31451612903225806</c:v>
                </c:pt>
                <c:pt idx="4">
                  <c:v>0.23387096774193547</c:v>
                </c:pt>
                <c:pt idx="5">
                  <c:v>0.20967741935483872</c:v>
                </c:pt>
                <c:pt idx="6">
                  <c:v>0.20967741935483872</c:v>
                </c:pt>
                <c:pt idx="7">
                  <c:v>0.17741935483870969</c:v>
                </c:pt>
                <c:pt idx="8">
                  <c:v>0.20161290322580644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7A55-4821-8364-8382B753347E}"/>
            </c:ext>
          </c:extLst>
        </c:ser>
        <c:ser>
          <c:idx val="8"/>
          <c:order val="8"/>
          <c:tx>
            <c:v>FY2019</c:v>
          </c:tx>
          <c:spPr>
            <a:ln w="28575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'Donor Retention'!$V$27:$V$42</c:f>
              <c:strCache>
                <c:ptCount val="16"/>
                <c:pt idx="0">
                  <c:v>Year 0</c:v>
                </c:pt>
                <c:pt idx="1">
                  <c:v>Year 1</c:v>
                </c:pt>
                <c:pt idx="2">
                  <c:v>Year 2</c:v>
                </c:pt>
                <c:pt idx="3">
                  <c:v>Year 3</c:v>
                </c:pt>
                <c:pt idx="4">
                  <c:v>Year 4</c:v>
                </c:pt>
                <c:pt idx="5">
                  <c:v>Year 5</c:v>
                </c:pt>
                <c:pt idx="6">
                  <c:v>Year 6</c:v>
                </c:pt>
                <c:pt idx="7">
                  <c:v>Year 7</c:v>
                </c:pt>
                <c:pt idx="8">
                  <c:v>Year 8</c:v>
                </c:pt>
                <c:pt idx="9">
                  <c:v>Year 9</c:v>
                </c:pt>
                <c:pt idx="10">
                  <c:v>Year 10</c:v>
                </c:pt>
                <c:pt idx="11">
                  <c:v>Year 11</c:v>
                </c:pt>
                <c:pt idx="12">
                  <c:v>Year 12</c:v>
                </c:pt>
                <c:pt idx="13">
                  <c:v>Year 13</c:v>
                </c:pt>
                <c:pt idx="14">
                  <c:v>Year 14</c:v>
                </c:pt>
                <c:pt idx="15">
                  <c:v>Year 15</c:v>
                </c:pt>
              </c:strCache>
            </c:strRef>
          </c:cat>
          <c:val>
            <c:numRef>
              <c:f>'Donor Retention'!$AE$27:$AE$42</c:f>
              <c:numCache>
                <c:formatCode>0.0%;;</c:formatCode>
                <c:ptCount val="16"/>
                <c:pt idx="0">
                  <c:v>1</c:v>
                </c:pt>
                <c:pt idx="1">
                  <c:v>8.4507042253521125E-2</c:v>
                </c:pt>
                <c:pt idx="2">
                  <c:v>0.13380281690140844</c:v>
                </c:pt>
                <c:pt idx="3">
                  <c:v>0.11971830985915492</c:v>
                </c:pt>
                <c:pt idx="4">
                  <c:v>9.8591549295774641E-2</c:v>
                </c:pt>
                <c:pt idx="5">
                  <c:v>0.11267605633802817</c:v>
                </c:pt>
                <c:pt idx="6">
                  <c:v>0.11971830985915492</c:v>
                </c:pt>
                <c:pt idx="7">
                  <c:v>9.154929577464789E-2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7A55-4821-8364-8382B753347E}"/>
            </c:ext>
          </c:extLst>
        </c:ser>
        <c:ser>
          <c:idx val="9"/>
          <c:order val="9"/>
          <c:tx>
            <c:v>FY2020</c:v>
          </c:tx>
          <c:spPr>
            <a:ln w="28575" cap="rnd">
              <a:solidFill>
                <a:schemeClr val="accent4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'Donor Retention'!$V$27:$V$42</c:f>
              <c:strCache>
                <c:ptCount val="16"/>
                <c:pt idx="0">
                  <c:v>Year 0</c:v>
                </c:pt>
                <c:pt idx="1">
                  <c:v>Year 1</c:v>
                </c:pt>
                <c:pt idx="2">
                  <c:v>Year 2</c:v>
                </c:pt>
                <c:pt idx="3">
                  <c:v>Year 3</c:v>
                </c:pt>
                <c:pt idx="4">
                  <c:v>Year 4</c:v>
                </c:pt>
                <c:pt idx="5">
                  <c:v>Year 5</c:v>
                </c:pt>
                <c:pt idx="6">
                  <c:v>Year 6</c:v>
                </c:pt>
                <c:pt idx="7">
                  <c:v>Year 7</c:v>
                </c:pt>
                <c:pt idx="8">
                  <c:v>Year 8</c:v>
                </c:pt>
                <c:pt idx="9">
                  <c:v>Year 9</c:v>
                </c:pt>
                <c:pt idx="10">
                  <c:v>Year 10</c:v>
                </c:pt>
                <c:pt idx="11">
                  <c:v>Year 11</c:v>
                </c:pt>
                <c:pt idx="12">
                  <c:v>Year 12</c:v>
                </c:pt>
                <c:pt idx="13">
                  <c:v>Year 13</c:v>
                </c:pt>
                <c:pt idx="14">
                  <c:v>Year 14</c:v>
                </c:pt>
                <c:pt idx="15">
                  <c:v>Year 15</c:v>
                </c:pt>
              </c:strCache>
            </c:strRef>
          </c:cat>
          <c:val>
            <c:numRef>
              <c:f>'Donor Retention'!$AF$27:$AF$42</c:f>
              <c:numCache>
                <c:formatCode>0.0%;;</c:formatCode>
                <c:ptCount val="16"/>
                <c:pt idx="0">
                  <c:v>1</c:v>
                </c:pt>
                <c:pt idx="1">
                  <c:v>0.24691358024691357</c:v>
                </c:pt>
                <c:pt idx="2">
                  <c:v>0.1728395061728395</c:v>
                </c:pt>
                <c:pt idx="3">
                  <c:v>0.13580246913580246</c:v>
                </c:pt>
                <c:pt idx="4">
                  <c:v>0.14814814814814814</c:v>
                </c:pt>
                <c:pt idx="5">
                  <c:v>0.14814814814814814</c:v>
                </c:pt>
                <c:pt idx="6">
                  <c:v>0.1111111111111111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7A55-4821-8364-8382B753347E}"/>
            </c:ext>
          </c:extLst>
        </c:ser>
        <c:ser>
          <c:idx val="10"/>
          <c:order val="10"/>
          <c:tx>
            <c:v>FY2021</c:v>
          </c:tx>
          <c:spPr>
            <a:ln w="28575" cap="rnd">
              <a:solidFill>
                <a:schemeClr val="accent5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'Donor Retention'!$V$27:$V$42</c:f>
              <c:strCache>
                <c:ptCount val="16"/>
                <c:pt idx="0">
                  <c:v>Year 0</c:v>
                </c:pt>
                <c:pt idx="1">
                  <c:v>Year 1</c:v>
                </c:pt>
                <c:pt idx="2">
                  <c:v>Year 2</c:v>
                </c:pt>
                <c:pt idx="3">
                  <c:v>Year 3</c:v>
                </c:pt>
                <c:pt idx="4">
                  <c:v>Year 4</c:v>
                </c:pt>
                <c:pt idx="5">
                  <c:v>Year 5</c:v>
                </c:pt>
                <c:pt idx="6">
                  <c:v>Year 6</c:v>
                </c:pt>
                <c:pt idx="7">
                  <c:v>Year 7</c:v>
                </c:pt>
                <c:pt idx="8">
                  <c:v>Year 8</c:v>
                </c:pt>
                <c:pt idx="9">
                  <c:v>Year 9</c:v>
                </c:pt>
                <c:pt idx="10">
                  <c:v>Year 10</c:v>
                </c:pt>
                <c:pt idx="11">
                  <c:v>Year 11</c:v>
                </c:pt>
                <c:pt idx="12">
                  <c:v>Year 12</c:v>
                </c:pt>
                <c:pt idx="13">
                  <c:v>Year 13</c:v>
                </c:pt>
                <c:pt idx="14">
                  <c:v>Year 14</c:v>
                </c:pt>
                <c:pt idx="15">
                  <c:v>Year 15</c:v>
                </c:pt>
              </c:strCache>
            </c:strRef>
          </c:cat>
          <c:val>
            <c:numRef>
              <c:f>'Donor Retention'!$AG$27:$AG$42</c:f>
              <c:numCache>
                <c:formatCode>0.0%;;</c:formatCode>
                <c:ptCount val="16"/>
                <c:pt idx="0">
                  <c:v>1</c:v>
                </c:pt>
                <c:pt idx="1">
                  <c:v>0.21808510638297873</c:v>
                </c:pt>
                <c:pt idx="2">
                  <c:v>0.20212765957446807</c:v>
                </c:pt>
                <c:pt idx="3">
                  <c:v>0.18085106382978725</c:v>
                </c:pt>
                <c:pt idx="4">
                  <c:v>0.20744680851063829</c:v>
                </c:pt>
                <c:pt idx="5">
                  <c:v>0.13829787234042554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7A55-4821-8364-8382B753347E}"/>
            </c:ext>
          </c:extLst>
        </c:ser>
        <c:ser>
          <c:idx val="11"/>
          <c:order val="11"/>
          <c:tx>
            <c:v>FY2022</c:v>
          </c:tx>
          <c:spPr>
            <a:ln w="28575" cap="rnd">
              <a:solidFill>
                <a:schemeClr val="accent6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'Donor Retention'!$V$27:$V$42</c:f>
              <c:strCache>
                <c:ptCount val="16"/>
                <c:pt idx="0">
                  <c:v>Year 0</c:v>
                </c:pt>
                <c:pt idx="1">
                  <c:v>Year 1</c:v>
                </c:pt>
                <c:pt idx="2">
                  <c:v>Year 2</c:v>
                </c:pt>
                <c:pt idx="3">
                  <c:v>Year 3</c:v>
                </c:pt>
                <c:pt idx="4">
                  <c:v>Year 4</c:v>
                </c:pt>
                <c:pt idx="5">
                  <c:v>Year 5</c:v>
                </c:pt>
                <c:pt idx="6">
                  <c:v>Year 6</c:v>
                </c:pt>
                <c:pt idx="7">
                  <c:v>Year 7</c:v>
                </c:pt>
                <c:pt idx="8">
                  <c:v>Year 8</c:v>
                </c:pt>
                <c:pt idx="9">
                  <c:v>Year 9</c:v>
                </c:pt>
                <c:pt idx="10">
                  <c:v>Year 10</c:v>
                </c:pt>
                <c:pt idx="11">
                  <c:v>Year 11</c:v>
                </c:pt>
                <c:pt idx="12">
                  <c:v>Year 12</c:v>
                </c:pt>
                <c:pt idx="13">
                  <c:v>Year 13</c:v>
                </c:pt>
                <c:pt idx="14">
                  <c:v>Year 14</c:v>
                </c:pt>
                <c:pt idx="15">
                  <c:v>Year 15</c:v>
                </c:pt>
              </c:strCache>
            </c:strRef>
          </c:cat>
          <c:val>
            <c:numRef>
              <c:f>'Donor Retention'!$AH$27:$AH$42</c:f>
              <c:numCache>
                <c:formatCode>0.0%;;</c:formatCode>
                <c:ptCount val="16"/>
                <c:pt idx="0">
                  <c:v>1</c:v>
                </c:pt>
                <c:pt idx="1">
                  <c:v>0.31318681318681318</c:v>
                </c:pt>
                <c:pt idx="2">
                  <c:v>0.19780219780219779</c:v>
                </c:pt>
                <c:pt idx="3">
                  <c:v>0.12637362637362637</c:v>
                </c:pt>
                <c:pt idx="4">
                  <c:v>0.14285714285714285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7A55-4821-8364-8382B753347E}"/>
            </c:ext>
          </c:extLst>
        </c:ser>
        <c:ser>
          <c:idx val="12"/>
          <c:order val="12"/>
          <c:tx>
            <c:v>FY2023</c:v>
          </c:tx>
          <c:spPr>
            <a:ln w="28575" cap="rnd">
              <a:solidFill>
                <a:schemeClr val="accent1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'Donor Retention'!$V$27:$V$42</c:f>
              <c:strCache>
                <c:ptCount val="16"/>
                <c:pt idx="0">
                  <c:v>Year 0</c:v>
                </c:pt>
                <c:pt idx="1">
                  <c:v>Year 1</c:v>
                </c:pt>
                <c:pt idx="2">
                  <c:v>Year 2</c:v>
                </c:pt>
                <c:pt idx="3">
                  <c:v>Year 3</c:v>
                </c:pt>
                <c:pt idx="4">
                  <c:v>Year 4</c:v>
                </c:pt>
                <c:pt idx="5">
                  <c:v>Year 5</c:v>
                </c:pt>
                <c:pt idx="6">
                  <c:v>Year 6</c:v>
                </c:pt>
                <c:pt idx="7">
                  <c:v>Year 7</c:v>
                </c:pt>
                <c:pt idx="8">
                  <c:v>Year 8</c:v>
                </c:pt>
                <c:pt idx="9">
                  <c:v>Year 9</c:v>
                </c:pt>
                <c:pt idx="10">
                  <c:v>Year 10</c:v>
                </c:pt>
                <c:pt idx="11">
                  <c:v>Year 11</c:v>
                </c:pt>
                <c:pt idx="12">
                  <c:v>Year 12</c:v>
                </c:pt>
                <c:pt idx="13">
                  <c:v>Year 13</c:v>
                </c:pt>
                <c:pt idx="14">
                  <c:v>Year 14</c:v>
                </c:pt>
                <c:pt idx="15">
                  <c:v>Year 15</c:v>
                </c:pt>
              </c:strCache>
            </c:strRef>
          </c:cat>
          <c:val>
            <c:numRef>
              <c:f>'Donor Retention'!$AI$27:$AI$42</c:f>
              <c:numCache>
                <c:formatCode>0.0%;;</c:formatCode>
                <c:ptCount val="16"/>
                <c:pt idx="0">
                  <c:v>1</c:v>
                </c:pt>
                <c:pt idx="1">
                  <c:v>0.2857142857142857</c:v>
                </c:pt>
                <c:pt idx="2">
                  <c:v>0.18452380952380953</c:v>
                </c:pt>
                <c:pt idx="3">
                  <c:v>0.16666666666666666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7A55-4821-8364-8382B753347E}"/>
            </c:ext>
          </c:extLst>
        </c:ser>
        <c:ser>
          <c:idx val="13"/>
          <c:order val="13"/>
          <c:tx>
            <c:v>FY2024</c:v>
          </c:tx>
          <c:spPr>
            <a:ln w="28575" cap="rnd">
              <a:solidFill>
                <a:schemeClr val="accent2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'Donor Retention'!$V$27:$V$42</c:f>
              <c:strCache>
                <c:ptCount val="16"/>
                <c:pt idx="0">
                  <c:v>Year 0</c:v>
                </c:pt>
                <c:pt idx="1">
                  <c:v>Year 1</c:v>
                </c:pt>
                <c:pt idx="2">
                  <c:v>Year 2</c:v>
                </c:pt>
                <c:pt idx="3">
                  <c:v>Year 3</c:v>
                </c:pt>
                <c:pt idx="4">
                  <c:v>Year 4</c:v>
                </c:pt>
                <c:pt idx="5">
                  <c:v>Year 5</c:v>
                </c:pt>
                <c:pt idx="6">
                  <c:v>Year 6</c:v>
                </c:pt>
                <c:pt idx="7">
                  <c:v>Year 7</c:v>
                </c:pt>
                <c:pt idx="8">
                  <c:v>Year 8</c:v>
                </c:pt>
                <c:pt idx="9">
                  <c:v>Year 9</c:v>
                </c:pt>
                <c:pt idx="10">
                  <c:v>Year 10</c:v>
                </c:pt>
                <c:pt idx="11">
                  <c:v>Year 11</c:v>
                </c:pt>
                <c:pt idx="12">
                  <c:v>Year 12</c:v>
                </c:pt>
                <c:pt idx="13">
                  <c:v>Year 13</c:v>
                </c:pt>
                <c:pt idx="14">
                  <c:v>Year 14</c:v>
                </c:pt>
                <c:pt idx="15">
                  <c:v>Year 15</c:v>
                </c:pt>
              </c:strCache>
            </c:strRef>
          </c:cat>
          <c:val>
            <c:numRef>
              <c:f>'Donor Retention'!$AJ$27:$AJ$42</c:f>
              <c:numCache>
                <c:formatCode>0.0%;;</c:formatCode>
                <c:ptCount val="16"/>
                <c:pt idx="0">
                  <c:v>1</c:v>
                </c:pt>
                <c:pt idx="1">
                  <c:v>0.30081300813008133</c:v>
                </c:pt>
                <c:pt idx="2">
                  <c:v>0.26016260162601629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7A55-4821-8364-8382B753347E}"/>
            </c:ext>
          </c:extLst>
        </c:ser>
        <c:ser>
          <c:idx val="14"/>
          <c:order val="14"/>
          <c:tx>
            <c:v>FY2025</c:v>
          </c:tx>
          <c:spPr>
            <a:ln w="28575" cap="rnd">
              <a:solidFill>
                <a:schemeClr val="accent3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'Donor Retention'!$V$27:$V$42</c:f>
              <c:strCache>
                <c:ptCount val="16"/>
                <c:pt idx="0">
                  <c:v>Year 0</c:v>
                </c:pt>
                <c:pt idx="1">
                  <c:v>Year 1</c:v>
                </c:pt>
                <c:pt idx="2">
                  <c:v>Year 2</c:v>
                </c:pt>
                <c:pt idx="3">
                  <c:v>Year 3</c:v>
                </c:pt>
                <c:pt idx="4">
                  <c:v>Year 4</c:v>
                </c:pt>
                <c:pt idx="5">
                  <c:v>Year 5</c:v>
                </c:pt>
                <c:pt idx="6">
                  <c:v>Year 6</c:v>
                </c:pt>
                <c:pt idx="7">
                  <c:v>Year 7</c:v>
                </c:pt>
                <c:pt idx="8">
                  <c:v>Year 8</c:v>
                </c:pt>
                <c:pt idx="9">
                  <c:v>Year 9</c:v>
                </c:pt>
                <c:pt idx="10">
                  <c:v>Year 10</c:v>
                </c:pt>
                <c:pt idx="11">
                  <c:v>Year 11</c:v>
                </c:pt>
                <c:pt idx="12">
                  <c:v>Year 12</c:v>
                </c:pt>
                <c:pt idx="13">
                  <c:v>Year 13</c:v>
                </c:pt>
                <c:pt idx="14">
                  <c:v>Year 14</c:v>
                </c:pt>
                <c:pt idx="15">
                  <c:v>Year 15</c:v>
                </c:pt>
              </c:strCache>
            </c:strRef>
          </c:cat>
          <c:val>
            <c:numRef>
              <c:f>'Donor Retention'!$AK$27:$AK$42</c:f>
              <c:numCache>
                <c:formatCode>0.0%;;</c:formatCode>
                <c:ptCount val="16"/>
                <c:pt idx="0">
                  <c:v>1</c:v>
                </c:pt>
                <c:pt idx="1">
                  <c:v>0.19875776397515527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E-7A55-4821-8364-8382B753347E}"/>
            </c:ext>
          </c:extLst>
        </c:ser>
        <c:ser>
          <c:idx val="15"/>
          <c:order val="15"/>
          <c:tx>
            <c:v>FY2026</c:v>
          </c:tx>
          <c:spPr>
            <a:ln w="28575" cap="rnd">
              <a:solidFill>
                <a:schemeClr val="accent4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'Donor Retention'!$V$27:$V$42</c:f>
              <c:strCache>
                <c:ptCount val="16"/>
                <c:pt idx="0">
                  <c:v>Year 0</c:v>
                </c:pt>
                <c:pt idx="1">
                  <c:v>Year 1</c:v>
                </c:pt>
                <c:pt idx="2">
                  <c:v>Year 2</c:v>
                </c:pt>
                <c:pt idx="3">
                  <c:v>Year 3</c:v>
                </c:pt>
                <c:pt idx="4">
                  <c:v>Year 4</c:v>
                </c:pt>
                <c:pt idx="5">
                  <c:v>Year 5</c:v>
                </c:pt>
                <c:pt idx="6">
                  <c:v>Year 6</c:v>
                </c:pt>
                <c:pt idx="7">
                  <c:v>Year 7</c:v>
                </c:pt>
                <c:pt idx="8">
                  <c:v>Year 8</c:v>
                </c:pt>
                <c:pt idx="9">
                  <c:v>Year 9</c:v>
                </c:pt>
                <c:pt idx="10">
                  <c:v>Year 10</c:v>
                </c:pt>
                <c:pt idx="11">
                  <c:v>Year 11</c:v>
                </c:pt>
                <c:pt idx="12">
                  <c:v>Year 12</c:v>
                </c:pt>
                <c:pt idx="13">
                  <c:v>Year 13</c:v>
                </c:pt>
                <c:pt idx="14">
                  <c:v>Year 14</c:v>
                </c:pt>
                <c:pt idx="15">
                  <c:v>Year 15</c:v>
                </c:pt>
              </c:strCache>
            </c:strRef>
          </c:cat>
          <c:val>
            <c:numRef>
              <c:f>'Donor Retention'!$AL$27:$AL$42</c:f>
              <c:numCache>
                <c:formatCode>0.0%;;</c:formatCode>
                <c:ptCount val="16"/>
                <c:pt idx="0">
                  <c:v>1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7A55-4821-8364-8382B753347E}"/>
            </c:ext>
          </c:extLst>
        </c:ser>
        <c:ser>
          <c:idx val="16"/>
          <c:order val="16"/>
          <c:tx>
            <c:v>Blended (weighted)</c:v>
          </c:tx>
          <c:spPr>
            <a:ln w="44450" cap="rnd">
              <a:solidFill>
                <a:srgbClr val="000000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'Donor Retention'!$V$27:$V$42</c:f>
              <c:strCache>
                <c:ptCount val="16"/>
                <c:pt idx="0">
                  <c:v>Year 0</c:v>
                </c:pt>
                <c:pt idx="1">
                  <c:v>Year 1</c:v>
                </c:pt>
                <c:pt idx="2">
                  <c:v>Year 2</c:v>
                </c:pt>
                <c:pt idx="3">
                  <c:v>Year 3</c:v>
                </c:pt>
                <c:pt idx="4">
                  <c:v>Year 4</c:v>
                </c:pt>
                <c:pt idx="5">
                  <c:v>Year 5</c:v>
                </c:pt>
                <c:pt idx="6">
                  <c:v>Year 6</c:v>
                </c:pt>
                <c:pt idx="7">
                  <c:v>Year 7</c:v>
                </c:pt>
                <c:pt idx="8">
                  <c:v>Year 8</c:v>
                </c:pt>
                <c:pt idx="9">
                  <c:v>Year 9</c:v>
                </c:pt>
                <c:pt idx="10">
                  <c:v>Year 10</c:v>
                </c:pt>
                <c:pt idx="11">
                  <c:v>Year 11</c:v>
                </c:pt>
                <c:pt idx="12">
                  <c:v>Year 12</c:v>
                </c:pt>
                <c:pt idx="13">
                  <c:v>Year 13</c:v>
                </c:pt>
                <c:pt idx="14">
                  <c:v>Year 14</c:v>
                </c:pt>
                <c:pt idx="15">
                  <c:v>Year 15</c:v>
                </c:pt>
              </c:strCache>
            </c:strRef>
          </c:cat>
          <c:val>
            <c:numRef>
              <c:f>'Donor Retention'!$AM$27:$AM$42</c:f>
              <c:numCache>
                <c:formatCode>General</c:formatCode>
                <c:ptCount val="16"/>
                <c:pt idx="0">
                  <c:v>1</c:v>
                </c:pt>
                <c:pt idx="1">
                  <c:v>0.28554502369668244</c:v>
                </c:pt>
                <c:pt idx="2">
                  <c:v>0.25094896668072542</c:v>
                </c:pt>
                <c:pt idx="3">
                  <c:v>0.2304270462633452</c:v>
                </c:pt>
                <c:pt idx="4">
                  <c:v>0.2326923076923077</c:v>
                </c:pt>
                <c:pt idx="5">
                  <c:v>0.21759747102212856</c:v>
                </c:pt>
                <c:pt idx="6">
                  <c:v>0.19883040935672514</c:v>
                </c:pt>
                <c:pt idx="7">
                  <c:v>0.19056847545219638</c:v>
                </c:pt>
                <c:pt idx="8">
                  <c:v>0.1891891891891892</c:v>
                </c:pt>
                <c:pt idx="9">
                  <c:v>0.18798751950078002</c:v>
                </c:pt>
                <c:pt idx="10">
                  <c:v>0.1822429906542056</c:v>
                </c:pt>
                <c:pt idx="11">
                  <c:v>0.19710467706013363</c:v>
                </c:pt>
                <c:pt idx="12">
                  <c:v>0.19786096256684493</c:v>
                </c:pt>
                <c:pt idx="13">
                  <c:v>0.19496855345911951</c:v>
                </c:pt>
                <c:pt idx="14">
                  <c:v>0.20159680638722555</c:v>
                </c:pt>
                <c:pt idx="15">
                  <c:v>0.22255192878338279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0-7A55-4821-8364-8382B75334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0195200"/>
        <c:axId val="2124019600"/>
      </c:lineChart>
      <c:catAx>
        <c:axId val="1401952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24019600"/>
        <c:crosses val="autoZero"/>
        <c:auto val="1"/>
        <c:lblAlgn val="ctr"/>
        <c:lblOffset val="100"/>
        <c:noMultiLvlLbl val="0"/>
      </c:catAx>
      <c:valAx>
        <c:axId val="2124019600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1952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Donor Retention Rate by Fiscal Year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Retention Rate</c:v>
          </c:tx>
          <c:spPr>
            <a:ln w="28575" cap="rnd">
              <a:solidFill>
                <a:srgbClr val="54823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'Donor Retention'!$T$7:$T$21</c:f>
              <c:strCache>
                <c:ptCount val="15"/>
                <c:pt idx="0">
                  <c:v>FY2012</c:v>
                </c:pt>
                <c:pt idx="1">
                  <c:v>FY2013</c:v>
                </c:pt>
                <c:pt idx="2">
                  <c:v>FY2014</c:v>
                </c:pt>
                <c:pt idx="3">
                  <c:v>FY2015</c:v>
                </c:pt>
                <c:pt idx="4">
                  <c:v>FY2016</c:v>
                </c:pt>
                <c:pt idx="5">
                  <c:v>FY2017</c:v>
                </c:pt>
                <c:pt idx="6">
                  <c:v>FY2018</c:v>
                </c:pt>
                <c:pt idx="7">
                  <c:v>FY2019</c:v>
                </c:pt>
                <c:pt idx="8">
                  <c:v>FY2020</c:v>
                </c:pt>
                <c:pt idx="9">
                  <c:v>FY2021</c:v>
                </c:pt>
                <c:pt idx="10">
                  <c:v>FY2022</c:v>
                </c:pt>
                <c:pt idx="11">
                  <c:v>FY2023</c:v>
                </c:pt>
                <c:pt idx="12">
                  <c:v>FY2024</c:v>
                </c:pt>
                <c:pt idx="13">
                  <c:v>FY2025</c:v>
                </c:pt>
                <c:pt idx="14">
                  <c:v>FY2026</c:v>
                </c:pt>
              </c:strCache>
            </c:strRef>
          </c:cat>
          <c:val>
            <c:numRef>
              <c:f>'Donor Retention'!$F$7:$F$21</c:f>
              <c:numCache>
                <c:formatCode>0.0%</c:formatCode>
                <c:ptCount val="15"/>
                <c:pt idx="0">
                  <c:v>0.52225519287833833</c:v>
                </c:pt>
                <c:pt idx="1">
                  <c:v>0.56764705882352939</c:v>
                </c:pt>
                <c:pt idx="2">
                  <c:v>0.61904761904761907</c:v>
                </c:pt>
                <c:pt idx="3">
                  <c:v>0.65479452054794518</c:v>
                </c:pt>
                <c:pt idx="4">
                  <c:v>0.6</c:v>
                </c:pt>
                <c:pt idx="5">
                  <c:v>0.5456431535269709</c:v>
                </c:pt>
                <c:pt idx="6">
                  <c:v>0.51631477927063341</c:v>
                </c:pt>
                <c:pt idx="7">
                  <c:v>0.56798245614035092</c:v>
                </c:pt>
                <c:pt idx="8">
                  <c:v>0.49886104783599089</c:v>
                </c:pt>
                <c:pt idx="9">
                  <c:v>0.56465517241379315</c:v>
                </c:pt>
                <c:pt idx="10">
                  <c:v>0.54395604395604391</c:v>
                </c:pt>
                <c:pt idx="11">
                  <c:v>0.57904761904761903</c:v>
                </c:pt>
                <c:pt idx="12">
                  <c:v>0.55679702048417135</c:v>
                </c:pt>
                <c:pt idx="13">
                  <c:v>0.60956175298804782</c:v>
                </c:pt>
                <c:pt idx="14">
                  <c:v>0.55327102803738315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91F-4FF2-B862-BC84A3BD47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9854656"/>
        <c:axId val="2124117040"/>
      </c:lineChart>
      <c:catAx>
        <c:axId val="1198546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24117040"/>
        <c:crosses val="autoZero"/>
        <c:auto val="1"/>
        <c:lblAlgn val="ctr"/>
        <c:lblOffset val="100"/>
        <c:noMultiLvlLbl val="0"/>
      </c:catAx>
      <c:valAx>
        <c:axId val="2124117040"/>
        <c:scaling>
          <c:orientation val="minMax"/>
          <c:max val="0.8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8546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Giving Pyramid — # of Individual Gifts by Size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5776367876802624"/>
          <c:y val="0.11973655149735929"/>
          <c:w val="0.81246516639759137"/>
          <c:h val="0.8287210656211038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'Giving Pyramid'!$L$26</c:f>
              <c:strCache>
                <c:ptCount val="1"/>
                <c:pt idx="0">
                  <c:v># of Gifts</c:v>
                </c:pt>
              </c:strCache>
            </c:strRef>
          </c:tx>
          <c:spPr>
            <a:solidFill>
              <a:srgbClr val="2E75B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'Giving Pyramid'!$K$27:$K$35</c:f>
              <c:strCache>
                <c:ptCount val="9"/>
                <c:pt idx="0">
                  <c:v>$25,000 +</c:v>
                </c:pt>
                <c:pt idx="1">
                  <c:v>$10,000 – $24,999</c:v>
                </c:pt>
                <c:pt idx="2">
                  <c:v>$5,000 – $9,999</c:v>
                </c:pt>
                <c:pt idx="3">
                  <c:v>$2,500 – $4,999</c:v>
                </c:pt>
                <c:pt idx="4">
                  <c:v>$1,000 – $2,499</c:v>
                </c:pt>
                <c:pt idx="5">
                  <c:v>$500 – $999</c:v>
                </c:pt>
                <c:pt idx="6">
                  <c:v>$250 – $499</c:v>
                </c:pt>
                <c:pt idx="7">
                  <c:v>$100 – $249</c:v>
                </c:pt>
                <c:pt idx="8">
                  <c:v>Under $100</c:v>
                </c:pt>
              </c:strCache>
            </c:strRef>
          </c:cat>
          <c:val>
            <c:numRef>
              <c:f>'Giving Pyramid'!$L$27:$L$35</c:f>
              <c:numCache>
                <c:formatCode>#,##0;\(#,##0\);\-</c:formatCode>
                <c:ptCount val="9"/>
                <c:pt idx="0">
                  <c:v>9</c:v>
                </c:pt>
                <c:pt idx="1">
                  <c:v>33</c:v>
                </c:pt>
                <c:pt idx="2">
                  <c:v>39</c:v>
                </c:pt>
                <c:pt idx="3">
                  <c:v>34</c:v>
                </c:pt>
                <c:pt idx="4">
                  <c:v>142</c:v>
                </c:pt>
                <c:pt idx="5">
                  <c:v>106</c:v>
                </c:pt>
                <c:pt idx="6">
                  <c:v>95</c:v>
                </c:pt>
                <c:pt idx="7">
                  <c:v>331</c:v>
                </c:pt>
                <c:pt idx="8">
                  <c:v>1540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A1-47A5-97FE-06642DCED9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127785328"/>
        <c:axId val="2123875120"/>
      </c:barChart>
      <c:catAx>
        <c:axId val="21277853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23875120"/>
        <c:crosses val="autoZero"/>
        <c:auto val="1"/>
        <c:lblAlgn val="ctr"/>
        <c:lblOffset val="100"/>
        <c:noMultiLvlLbl val="0"/>
      </c:catAx>
      <c:valAx>
        <c:axId val="212387512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;\(#,##0\);\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27785328"/>
        <c:crosses val="autoZero"/>
        <c:crossBetween val="between"/>
      </c:valAx>
      <c:spPr>
        <a:noFill/>
        <a:ln>
          <a:noFill/>
        </a:ln>
        <a:effectLst/>
      </c:spPr>
    </c:plotArea>
    <c:plotVisOnly val="0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Number of Gifts by Fiscal Year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4058776677610789E-2"/>
          <c:y val="0.10171001790675359"/>
          <c:w val="0.79955095116157948"/>
          <c:h val="0.85450738922348701"/>
        </c:manualLayout>
      </c:layout>
      <c:lineChart>
        <c:grouping val="standard"/>
        <c:varyColors val="0"/>
        <c:ser>
          <c:idx val="0"/>
          <c:order val="0"/>
          <c:tx>
            <c:strRef>
              <c:f>'Giving Pyramid'!$D$21</c:f>
              <c:strCache>
                <c:ptCount val="1"/>
                <c:pt idx="0">
                  <c:v># of Gifts</c:v>
                </c:pt>
              </c:strCache>
            </c:strRef>
          </c:tx>
          <c:spPr>
            <a:ln w="28575" cap="rnd">
              <a:solidFill>
                <a:srgbClr val="548235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rgbClr val="C00000"/>
                </a:solidFill>
                <a:prstDash val="lgDash"/>
              </a:ln>
              <a:effectLst/>
            </c:spPr>
            <c:trendlineType val="linear"/>
            <c:dispRSqr val="0"/>
            <c:dispEq val="0"/>
          </c:trendline>
          <c:cat>
            <c:strRef>
              <c:f>'Giving Pyramid'!$N$22:$N$37</c:f>
              <c:strCache>
                <c:ptCount val="16"/>
                <c:pt idx="0">
                  <c:v>FY2011</c:v>
                </c:pt>
                <c:pt idx="1">
                  <c:v>FY2012</c:v>
                </c:pt>
                <c:pt idx="2">
                  <c:v>FY2013</c:v>
                </c:pt>
                <c:pt idx="3">
                  <c:v>FY2014</c:v>
                </c:pt>
                <c:pt idx="4">
                  <c:v>FY2015</c:v>
                </c:pt>
                <c:pt idx="5">
                  <c:v>FY2016</c:v>
                </c:pt>
                <c:pt idx="6">
                  <c:v>FY2017</c:v>
                </c:pt>
                <c:pt idx="7">
                  <c:v>FY2018</c:v>
                </c:pt>
                <c:pt idx="8">
                  <c:v>FY2019</c:v>
                </c:pt>
                <c:pt idx="9">
                  <c:v>FY2020</c:v>
                </c:pt>
                <c:pt idx="10">
                  <c:v>FY2021</c:v>
                </c:pt>
                <c:pt idx="11">
                  <c:v>FY2022</c:v>
                </c:pt>
                <c:pt idx="12">
                  <c:v>FY2023</c:v>
                </c:pt>
                <c:pt idx="13">
                  <c:v>FY2024</c:v>
                </c:pt>
                <c:pt idx="14">
                  <c:v>FY2025</c:v>
                </c:pt>
                <c:pt idx="15">
                  <c:v>FY2026</c:v>
                </c:pt>
              </c:strCache>
            </c:strRef>
          </c:cat>
          <c:val>
            <c:numRef>
              <c:f>'Giving Pyramid'!$D$22:$D$37</c:f>
              <c:numCache>
                <c:formatCode>#,##0;\(#,##0\);\-</c:formatCode>
                <c:ptCount val="16"/>
                <c:pt idx="0">
                  <c:v>1688</c:v>
                </c:pt>
                <c:pt idx="1">
                  <c:v>1631</c:v>
                </c:pt>
                <c:pt idx="2">
                  <c:v>1571</c:v>
                </c:pt>
                <c:pt idx="3">
                  <c:v>1525</c:v>
                </c:pt>
                <c:pt idx="4">
                  <c:v>2125</c:v>
                </c:pt>
                <c:pt idx="5">
                  <c:v>2132</c:v>
                </c:pt>
                <c:pt idx="6">
                  <c:v>1933</c:v>
                </c:pt>
                <c:pt idx="7">
                  <c:v>2101</c:v>
                </c:pt>
                <c:pt idx="8">
                  <c:v>2176</c:v>
                </c:pt>
                <c:pt idx="9">
                  <c:v>2286</c:v>
                </c:pt>
                <c:pt idx="10">
                  <c:v>2988</c:v>
                </c:pt>
                <c:pt idx="11">
                  <c:v>2826</c:v>
                </c:pt>
                <c:pt idx="12">
                  <c:v>2708</c:v>
                </c:pt>
                <c:pt idx="13">
                  <c:v>2465</c:v>
                </c:pt>
                <c:pt idx="14">
                  <c:v>2337</c:v>
                </c:pt>
                <c:pt idx="15">
                  <c:v>2373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353-4038-8B35-E8B5F5945F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27800176"/>
        <c:axId val="2123909200"/>
      </c:lineChart>
      <c:catAx>
        <c:axId val="21278001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23909200"/>
        <c:crosses val="autoZero"/>
        <c:auto val="1"/>
        <c:lblAlgn val="ctr"/>
        <c:lblOffset val="100"/>
        <c:noMultiLvlLbl val="0"/>
      </c:catAx>
      <c:valAx>
        <c:axId val="21239092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278001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 Dollars Raised by Fiscal Year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'Giving Pyramid'!$C$21</c:f>
              <c:strCache>
                <c:ptCount val="1"/>
                <c:pt idx="0">
                  <c:v>Total $</c:v>
                </c:pt>
              </c:strCache>
            </c:strRef>
          </c:tx>
          <c:spPr>
            <a:ln w="28575" cap="rnd">
              <a:solidFill>
                <a:srgbClr val="1F3864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rgbClr val="C00000"/>
                </a:solidFill>
                <a:prstDash val="lgDash"/>
              </a:ln>
              <a:effectLst/>
            </c:spPr>
            <c:trendlineType val="linear"/>
            <c:dispRSqr val="0"/>
            <c:dispEq val="0"/>
          </c:trendline>
          <c:cat>
            <c:strRef>
              <c:f>'Giving Pyramid'!$N$22:$N$37</c:f>
              <c:strCache>
                <c:ptCount val="16"/>
                <c:pt idx="0">
                  <c:v>FY2011</c:v>
                </c:pt>
                <c:pt idx="1">
                  <c:v>FY2012</c:v>
                </c:pt>
                <c:pt idx="2">
                  <c:v>FY2013</c:v>
                </c:pt>
                <c:pt idx="3">
                  <c:v>FY2014</c:v>
                </c:pt>
                <c:pt idx="4">
                  <c:v>FY2015</c:v>
                </c:pt>
                <c:pt idx="5">
                  <c:v>FY2016</c:v>
                </c:pt>
                <c:pt idx="6">
                  <c:v>FY2017</c:v>
                </c:pt>
                <c:pt idx="7">
                  <c:v>FY2018</c:v>
                </c:pt>
                <c:pt idx="8">
                  <c:v>FY2019</c:v>
                </c:pt>
                <c:pt idx="9">
                  <c:v>FY2020</c:v>
                </c:pt>
                <c:pt idx="10">
                  <c:v>FY2021</c:v>
                </c:pt>
                <c:pt idx="11">
                  <c:v>FY2022</c:v>
                </c:pt>
                <c:pt idx="12">
                  <c:v>FY2023</c:v>
                </c:pt>
                <c:pt idx="13">
                  <c:v>FY2024</c:v>
                </c:pt>
                <c:pt idx="14">
                  <c:v>FY2025</c:v>
                </c:pt>
                <c:pt idx="15">
                  <c:v>FY2026</c:v>
                </c:pt>
              </c:strCache>
            </c:strRef>
          </c:cat>
          <c:val>
            <c:numRef>
              <c:f>'Giving Pyramid'!$C$22:$C$37</c:f>
              <c:numCache>
                <c:formatCode>"$"#,##0;\("$"#,##0\);\-</c:formatCode>
                <c:ptCount val="16"/>
                <c:pt idx="0">
                  <c:v>856703.37999999989</c:v>
                </c:pt>
                <c:pt idx="1">
                  <c:v>820822.16</c:v>
                </c:pt>
                <c:pt idx="2">
                  <c:v>11730011.719999997</c:v>
                </c:pt>
                <c:pt idx="3">
                  <c:v>4260256.7400000058</c:v>
                </c:pt>
                <c:pt idx="4">
                  <c:v>1408187.6199999992</c:v>
                </c:pt>
                <c:pt idx="5">
                  <c:v>1752133.6600000027</c:v>
                </c:pt>
                <c:pt idx="6">
                  <c:v>1228110.1000000008</c:v>
                </c:pt>
                <c:pt idx="7">
                  <c:v>3878534.5300000017</c:v>
                </c:pt>
                <c:pt idx="8">
                  <c:v>2136157.0200000009</c:v>
                </c:pt>
                <c:pt idx="9">
                  <c:v>3808669.7000000007</c:v>
                </c:pt>
                <c:pt idx="10">
                  <c:v>2847023.3100000019</c:v>
                </c:pt>
                <c:pt idx="11">
                  <c:v>2443105.91</c:v>
                </c:pt>
                <c:pt idx="12">
                  <c:v>1360029.8399999999</c:v>
                </c:pt>
                <c:pt idx="13">
                  <c:v>3169714.4700000016</c:v>
                </c:pt>
                <c:pt idx="14">
                  <c:v>1559425.9800000004</c:v>
                </c:pt>
                <c:pt idx="15">
                  <c:v>1768709.2799999986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A99-4DFD-AF44-F71A246195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4188496"/>
        <c:axId val="2124084880"/>
      </c:lineChart>
      <c:catAx>
        <c:axId val="1141884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24084880"/>
        <c:crosses val="autoZero"/>
        <c:auto val="1"/>
        <c:lblAlgn val="ctr"/>
        <c:lblOffset val="100"/>
        <c:noMultiLvlLbl val="0"/>
      </c:catAx>
      <c:valAx>
        <c:axId val="21240848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#,##0,,&quot;M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41884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C43C8-1CA6-F4C2-434F-64D2FB4D54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AC53BA-96C4-5462-D313-C177DF77C2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B0D3FE-8193-45C0-849B-66D2CC9B5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561C7-8E26-49D1-A4F7-ED2BFF2A6E40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5C4187-6ED3-A5F6-6242-EC5E92155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CF4B7-4EDE-D4C8-6A43-CE65BF929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9F96A-3F55-4BA2-8C4F-34075B730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971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53793-6DA6-5787-998D-E2841468F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25A80-3359-F4D0-A56E-386B417AB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9D658-820C-2D20-8D3A-AB0D343EE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561C7-8E26-49D1-A4F7-ED2BFF2A6E40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4E05B1-A539-618B-8295-AD93F971A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88332-2C96-AA96-786A-B78C3F6C7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9F96A-3F55-4BA2-8C4F-34075B730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856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22834-C905-2798-FC39-6F17EB0D9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6F0B1-68F3-3C84-1829-7BC0BA69B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1A06A-8156-17A7-DAB3-332ACB114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561C7-8E26-49D1-A4F7-ED2BFF2A6E40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0AF67-81B1-BEB5-4805-CD513B25A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4A40F-D0FD-AF80-E437-77AFF9A5E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9F96A-3F55-4BA2-8C4F-34075B730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61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C0C03-09F4-0891-FE78-14B5E6BD7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8C8C1-FAEB-A3B1-23AD-3CB7AEEA57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542068-F052-CE21-1026-7E6A47B617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E00523-FF49-1B3B-BA96-0E89FFB14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561C7-8E26-49D1-A4F7-ED2BFF2A6E40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9DE95D-53AC-F8D2-4305-0B40D54B0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C4BF42-A199-0885-DA96-CC8B8E5DB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9F96A-3F55-4BA2-8C4F-34075B730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547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1C136-D7E1-6AB6-DB7D-4B0C5884A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9FA28D-2EB5-90A8-8BB1-D55860848D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F69FA6-B10C-EDEE-F3EB-EEA9596317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325706-DEEE-43C8-180E-BF5449D59D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C61F6-12FD-5A70-B33F-EAA60A43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E77836-29BB-7CC7-03A4-56A0CD045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561C7-8E26-49D1-A4F7-ED2BFF2A6E40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4AD8A1-7E2F-1B7D-128C-41ECEC29C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6555E5-8863-4463-FD23-621FC21EB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9F96A-3F55-4BA2-8C4F-34075B730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660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0A26B-130A-30F2-160F-632203592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E279A9-D994-1B0A-08A0-17D47FDFF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561C7-8E26-49D1-A4F7-ED2BFF2A6E40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82FCF4-4C55-973D-99E7-D3DD6C0EE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FCAF19-1220-4BE7-9059-9C1276F61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9F96A-3F55-4BA2-8C4F-34075B730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880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016718-9483-05DA-2E1C-62651987F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561C7-8E26-49D1-A4F7-ED2BFF2A6E40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F3D00D-A490-B2D4-9C28-59EAA1093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2A7438-8158-E72D-43FC-CDADB1AE1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9F96A-3F55-4BA2-8C4F-34075B730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665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45587-9ED8-6305-6E5F-21CD88F29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D93BD-8C74-A5BD-85C5-436D136C0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56BCA7-DC30-E47D-FEC3-33A75931F3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5740E3-0DAD-DCA3-D520-CF9DC890A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561C7-8E26-49D1-A4F7-ED2BFF2A6E40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F3451D-17E0-4AE2-176A-6F1AD9F3A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F7B0CC-4DFC-1342-1D3D-9ACFA7B13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9F96A-3F55-4BA2-8C4F-34075B730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19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59580-7CDB-9187-A2C3-BA3162B8E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963955-A5C5-D702-4DB7-777CD3C8C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21FB3E-AA05-1935-DB2A-E39DDCAF9A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A15CC1-2E3B-04F8-C96E-D6F335B95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561C7-8E26-49D1-A4F7-ED2BFF2A6E40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1E87D3-5AE0-17A5-2AB2-1DD59C605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4F2878-9DE6-0009-5A54-13250AE14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9F96A-3F55-4BA2-8C4F-34075B730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668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C5471-93E7-4C80-4280-4DF82D7F7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FBC15E-F8D9-2BEC-0DBD-F3958929CF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8F77D8-7618-1601-0EEC-85AB29FCC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561C7-8E26-49D1-A4F7-ED2BFF2A6E40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4BB4D0-02A4-7922-4544-0ECAB2B10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C73BD-92D4-9AA3-6624-2284586A4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9F96A-3F55-4BA2-8C4F-34075B730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839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40522D-7B7D-2EAF-21D2-42BA589B0F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3B4D1A-468A-7598-3054-FBDA21370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C2DCB-D373-DE24-8E9F-39205E3EC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561C7-8E26-49D1-A4F7-ED2BFF2A6E40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85015-4B5A-4D51-D270-067D0BCA7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24E5AB-A290-E6B2-3E58-DBD34FF94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9F96A-3F55-4BA2-8C4F-34075B730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555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828402-18B8-5F02-8EBE-5DFB16F86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F70FF8-5C5E-012C-07BB-4289411903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3DCC9-74BD-0B10-A169-07950D3C8B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6561C7-8E26-49D1-A4F7-ED2BFF2A6E40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D88F5-D7D6-21B8-65F2-55C22219A6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4CAF5-3308-008B-29C9-AC910B5BE4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19F96A-3F55-4BA2-8C4F-34075B730776}" type="slidenum">
              <a:rPr lang="en-US" smtClean="0"/>
              <a:t>‹#›</a:t>
            </a:fld>
            <a:endParaRPr lang="en-US"/>
          </a:p>
        </p:txBody>
      </p:sp>
      <p:sp>
        <p:nvSpPr>
          <p:cNvPr id="920" name="BaseBarNavy"/>
          <p:cNvSpPr/>
          <p:nvPr/>
        </p:nvSpPr>
        <p:spPr>
          <a:xfrm>
            <a:off x="0" y="6629400"/>
            <a:ext cx="12192000" cy="127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1" name="BaseBarRust"/>
          <p:cNvSpPr/>
          <p:nvPr/>
        </p:nvSpPr>
        <p:spPr>
          <a:xfrm>
            <a:off x="0" y="6629400"/>
            <a:ext cx="2540000" cy="127000"/>
          </a:xfrm>
          <a:prstGeom prst="rect">
            <a:avLst/>
          </a:prstGeom>
          <a:solidFill>
            <a:srgbClr val="C0492E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88554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C2B3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E475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09F32-C88C-A2D3-8122-3ACE1BEE25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6600" b="1" dirty="0">
                <a:solidFill>
                  <a:schemeClr val="tx1"/>
                </a:solidFill>
              </a:rPr>
              <a:t>Held but </a:t>
            </a:r>
            <a:r>
              <a:rPr lang="en-US" sz="6600" b="1" dirty="0">
                <a:solidFill>
                  <a:srgbClr val="C0492E"/>
                </a:solidFill>
              </a:rPr>
              <a:t>Hollow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494135-E049-79C7-271C-739C8C3529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sz="2200" i="1" dirty="0">
                <a:solidFill>
                  <a:schemeClr val="tx2"/>
                </a:solidFill>
              </a:rPr>
              <a:t>Why our record-capable pipeline is at risk — and what we do this year</a:t>
            </a:r>
          </a:p>
          <a:p>
            <a:pPr algn="ctr">
              <a:spcBef>
                <a:spcPts val="1400"/>
              </a:spcBef>
            </a:pPr>
            <a:r>
              <a:rPr lang="en-US" sz="1400" b="1" dirty="0">
                <a:solidFill>
                  <a:srgbClr val="1F3A5F"/>
                </a:solidFill>
              </a:rPr>
              <a:t>Allan Hancock College Foundation</a:t>
            </a:r>
            <a:r>
              <a:rPr lang="en-US" sz="1400" dirty="0">
                <a:solidFill>
                  <a:schemeClr val="tx2"/>
                </a:solidFill>
              </a:rPr>
              <a:t>  •  Development Briefing  •  New Fundraising Year</a:t>
            </a:r>
          </a:p>
        </p:txBody>
      </p:sp>
    </p:spTree>
    <p:extLst>
      <p:ext uri="{BB962C8B-B14F-4D97-AF65-F5344CB8AC3E}">
        <p14:creationId xmlns:p14="http://schemas.microsoft.com/office/powerpoint/2010/main" val="2054805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5ACF4-E21E-FEEC-24B3-70B21B93E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tx1"/>
                </a:solidFill>
              </a:rPr>
              <a:t>The national mirror</a:t>
            </a:r>
          </a:p>
        </p:txBody>
      </p:sp>
      <p:sp>
        <p:nvSpPr>
          <p:cNvPr id="30" name="Subtitle"/>
          <p:cNvSpPr/>
          <p:nvPr/>
        </p:nvSpPr>
        <p:spPr>
          <a:xfrm>
            <a:off x="838200" y="1778000"/>
            <a:ext cx="10515600" cy="55880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</p:spPr>
        <p:txBody>
          <a:bodyPr lIns="118872" tIns="91440" rIns="118872" bIns="91440" anchor="ctr">
            <a:normAutofit/>
          </a:bodyPr>
          <a:lstStyle/>
          <a:p>
            <a:r>
              <a:rPr lang="en-US" sz="1800" i="1" dirty="0">
                <a:solidFill>
                  <a:schemeClr val="tx2"/>
                </a:solidFill>
              </a:rPr>
              <a:t>Record dollars, falling donors — the sector’s warning to every foundation.</a:t>
            </a:r>
          </a:p>
        </p:txBody>
      </p:sp>
      <p:sp>
        <p:nvSpPr>
          <p:cNvPr id="31" name="Card1"/>
          <p:cNvSpPr/>
          <p:nvPr/>
        </p:nvSpPr>
        <p:spPr>
          <a:xfrm>
            <a:off x="838200" y="2667000"/>
            <a:ext cx="3302000" cy="241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D8CB"/>
            </a:solidFill>
          </a:ln>
        </p:spPr>
        <p:txBody>
          <a:bodyPr lIns="118872" tIns="91440" rIns="118872" bIns="91440" anchor="ctr">
            <a:normAutofit/>
          </a:bodyPr>
          <a:lstStyle/>
          <a:p>
            <a:pPr algn="ctr"/>
            <a:r>
              <a:rPr lang="en-US" sz="4400" b="1" dirty="0">
                <a:solidFill>
                  <a:srgbClr val="4E7A51"/>
                </a:solidFill>
              </a:rPr>
              <a:t>$617.2B</a:t>
            </a:r>
          </a:p>
          <a:p>
            <a:pPr algn="ctr">
              <a:spcBef>
                <a:spcPts val="600"/>
              </a:spcBef>
            </a:pPr>
            <a:r>
              <a:rPr lang="en-US" sz="1600" b="1" dirty="0">
                <a:solidFill>
                  <a:schemeClr val="tx1"/>
                </a:solidFill>
              </a:rPr>
              <a:t>Total U.S. giving, 2025</a:t>
            </a:r>
          </a:p>
          <a:p>
            <a:pPr algn="ctr">
              <a:spcBef>
                <a:spcPts val="400"/>
              </a:spcBef>
            </a:pPr>
            <a:r>
              <a:rPr lang="en-US" sz="1400" dirty="0">
                <a:solidFill>
                  <a:schemeClr val="tx2"/>
                </a:solidFill>
              </a:rPr>
              <a:t>+5.7% — first year ever above $600B</a:t>
            </a:r>
          </a:p>
        </p:txBody>
      </p:sp>
      <p:sp>
        <p:nvSpPr>
          <p:cNvPr id="32" name="Card2"/>
          <p:cNvSpPr/>
          <p:nvPr/>
        </p:nvSpPr>
        <p:spPr>
          <a:xfrm>
            <a:off x="4445000" y="2667000"/>
            <a:ext cx="3302000" cy="241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D8CB"/>
            </a:solidFill>
          </a:ln>
        </p:spPr>
        <p:txBody>
          <a:bodyPr lIns="118872" tIns="91440" rIns="118872" bIns="91440" anchor="ctr">
            <a:normAutofit/>
          </a:bodyPr>
          <a:lstStyle/>
          <a:p>
            <a:pPr algn="ctr"/>
            <a:r>
              <a:rPr lang="en-US" sz="4400" b="1" dirty="0">
                <a:solidFill>
                  <a:srgbClr val="C0492E"/>
                </a:solidFill>
              </a:rPr>
              <a:t>−3.6%</a:t>
            </a:r>
          </a:p>
          <a:p>
            <a:pPr algn="ctr">
              <a:spcBef>
                <a:spcPts val="600"/>
              </a:spcBef>
            </a:pPr>
            <a:r>
              <a:rPr lang="en-US" sz="1600" b="1" dirty="0">
                <a:solidFill>
                  <a:schemeClr val="tx1"/>
                </a:solidFill>
              </a:rPr>
              <a:t>Donor count</a:t>
            </a:r>
          </a:p>
          <a:p>
            <a:pPr algn="ctr">
              <a:spcBef>
                <a:spcPts val="400"/>
              </a:spcBef>
            </a:pPr>
            <a:r>
              <a:rPr lang="en-US" sz="1400" dirty="0">
                <a:solidFill>
                  <a:schemeClr val="tx2"/>
                </a:solidFill>
              </a:rPr>
              <a:t>5th straight annual decline (FEP Q4 2025)</a:t>
            </a:r>
          </a:p>
        </p:txBody>
      </p:sp>
      <p:sp>
        <p:nvSpPr>
          <p:cNvPr id="33" name="Card3"/>
          <p:cNvSpPr/>
          <p:nvPr/>
        </p:nvSpPr>
        <p:spPr>
          <a:xfrm>
            <a:off x="8051800" y="2667000"/>
            <a:ext cx="3302000" cy="241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D8CB"/>
            </a:solidFill>
          </a:ln>
        </p:spPr>
        <p:txBody>
          <a:bodyPr lIns="118872" tIns="91440" rIns="118872" bIns="91440" anchor="ctr">
            <a:normAutofit/>
          </a:bodyPr>
          <a:lstStyle/>
          <a:p>
            <a:pPr algn="ctr"/>
            <a:r>
              <a:rPr lang="en-US" sz="4400" b="1" dirty="0">
                <a:solidFill>
                  <a:srgbClr val="C0492E"/>
                </a:solidFill>
              </a:rPr>
              <a:t>~19%</a:t>
            </a:r>
          </a:p>
          <a:p>
            <a:pPr algn="ctr">
              <a:spcBef>
                <a:spcPts val="600"/>
              </a:spcBef>
            </a:pPr>
            <a:r>
              <a:rPr lang="en-US" sz="1600" b="1" dirty="0">
                <a:solidFill>
                  <a:schemeClr val="tx1"/>
                </a:solidFill>
              </a:rPr>
              <a:t>New-donor retention</a:t>
            </a:r>
          </a:p>
          <a:p>
            <a:pPr algn="ctr">
              <a:spcBef>
                <a:spcPts val="400"/>
              </a:spcBef>
            </a:pPr>
            <a:r>
              <a:rPr lang="en-US" sz="1400" dirty="0">
                <a:solidFill>
                  <a:schemeClr val="tx2"/>
                </a:solidFill>
              </a:rPr>
              <a:t>Four in five first-time donors never return</a:t>
            </a:r>
          </a:p>
        </p:txBody>
      </p:sp>
      <p:sp>
        <p:nvSpPr>
          <p:cNvPr id="34" name="Synthesis"/>
          <p:cNvSpPr/>
          <p:nvPr/>
        </p:nvSpPr>
        <p:spPr>
          <a:xfrm>
            <a:off x="838200" y="5334000"/>
            <a:ext cx="10515600" cy="101600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</p:spPr>
        <p:txBody>
          <a:bodyPr lIns="118872" tIns="91440" rIns="118872" bIns="91440" anchor="ctr">
            <a:normAutofit/>
          </a:bodyPr>
          <a:lstStyle/>
          <a:p>
            <a:pPr algn="ctr"/>
            <a:r>
              <a:rPr lang="en-US" sz="1800" b="1" i="1" dirty="0">
                <a:solidFill>
                  <a:srgbClr val="FFFFFF"/>
                </a:solidFill>
              </a:rPr>
              <a:t>“A retention problem is a promise problem. A major-gift pipeline is a retention problem with a ten-year fuse.”</a:t>
            </a:r>
          </a:p>
        </p:txBody>
      </p:sp>
    </p:spTree>
    <p:extLst>
      <p:ext uri="{BB962C8B-B14F-4D97-AF65-F5344CB8AC3E}">
        <p14:creationId xmlns:p14="http://schemas.microsoft.com/office/powerpoint/2010/main" val="1345153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6AE29-C8E2-37B5-DA66-AB88BF653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tx1"/>
                </a:solidFill>
              </a:rPr>
              <a:t>We are not the exception</a:t>
            </a:r>
          </a:p>
        </p:txBody>
      </p:sp>
      <p:graphicFrame>
        <p:nvGraphicFramePr>
          <p:cNvPr id="50" name="Chart 1"/>
          <p:cNvGraphicFramePr/>
          <p:nvPr/>
        </p:nvGraphicFramePr>
        <p:xfrm>
          <a:off x="838200" y="2286000"/>
          <a:ext cx="660400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0" name="Takeaway"/>
          <p:cNvSpPr/>
          <p:nvPr/>
        </p:nvSpPr>
        <p:spPr>
          <a:xfrm>
            <a:off x="838200" y="1727200"/>
            <a:ext cx="10515600" cy="520700"/>
          </a:xfrm>
          <a:prstGeom prst="rect">
            <a:avLst/>
          </a:prstGeom>
          <a:noFill/>
          <a:ln>
            <a:noFill/>
          </a:ln>
        </p:spPr>
        <p:txBody>
          <a:bodyPr lIns="109728" tIns="82296" rIns="109728" bIns="82296" anchor="ctr">
            <a:normAutofit/>
          </a:bodyPr>
          <a:lstStyle/>
          <a:p>
            <a:r>
              <a:rPr lang="en-US" sz="1800" b="1" i="1" dirty="0">
                <a:solidFill>
                  <a:srgbClr val="C0492E"/>
                </a:solidFill>
              </a:rPr>
              <a:t>Our first-year renewal decays to the same ~19% floor as the nation.</a:t>
            </a:r>
          </a:p>
        </p:txBody>
      </p:sp>
      <p:sp>
        <p:nvSpPr>
          <p:cNvPr id="41" name="Insight"/>
          <p:cNvSpPr/>
          <p:nvPr/>
        </p:nvSpPr>
        <p:spPr>
          <a:xfrm>
            <a:off x="7620000" y="2286000"/>
            <a:ext cx="3733800" cy="3886200"/>
          </a:xfrm>
          <a:prstGeom prst="roundRect">
            <a:avLst>
              <a:gd name="adj" fmla="val 5000"/>
            </a:avLst>
          </a:prstGeom>
          <a:solidFill>
            <a:srgbClr val="1F3A5F"/>
          </a:solidFill>
          <a:ln>
            <a:noFill/>
          </a:ln>
        </p:spPr>
        <p:txBody>
          <a:bodyPr lIns="109728" tIns="82296" rIns="109728" bIns="82296" anchor="t">
            <a:normAutofit/>
          </a:bodyPr>
          <a:lstStyle/>
          <a:p>
            <a:r>
              <a:rPr lang="en-US" sz="1500" b="1" dirty="0">
                <a:solidFill>
                  <a:srgbClr val="FFFFFF"/>
                </a:solidFill>
              </a:rPr>
              <a:t>What the trend shows</a:t>
            </a:r>
          </a:p>
          <a:p>
            <a:pPr marL="171450" indent="-171450">
              <a:spcBef>
                <a:spcPts val="800"/>
              </a:spcBef>
              <a:buFont typeface="Arial"/>
              <a:buChar char="•"/>
            </a:pPr>
            <a:r>
              <a:rPr lang="en-US" sz="1400" dirty="0">
                <a:solidFill>
                  <a:srgbClr val="F2ECE2"/>
                </a:solidFill>
              </a:rPr>
              <a:t>Year-1 retention by cohort has slid from ~34% to ~20%.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en-US" sz="1400" dirty="0">
                <a:solidFill>
                  <a:srgbClr val="F2ECE2"/>
                </a:solidFill>
              </a:rPr>
              <a:t>FY2019 cratered to 8% — a warning we can no longer treat as noise.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en-US" sz="1400" dirty="0">
                <a:solidFill>
                  <a:srgbClr val="F2ECE2"/>
                </a:solidFill>
              </a:rPr>
              <a:t>This mirrors the national ~19% new-donor floor exactly.</a:t>
            </a:r>
          </a:p>
        </p:txBody>
      </p:sp>
    </p:spTree>
    <p:extLst>
      <p:ext uri="{BB962C8B-B14F-4D97-AF65-F5344CB8AC3E}">
        <p14:creationId xmlns:p14="http://schemas.microsoft.com/office/powerpoint/2010/main" val="3536221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9D114-DAA6-83F9-87C2-7CC88D532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tx1"/>
                </a:solidFill>
              </a:rPr>
              <a:t>The leak is at the first gift</a:t>
            </a:r>
          </a:p>
        </p:txBody>
      </p:sp>
      <p:graphicFrame>
        <p:nvGraphicFramePr>
          <p:cNvPr id="50" name="Chart 1"/>
          <p:cNvGraphicFramePr/>
          <p:nvPr/>
        </p:nvGraphicFramePr>
        <p:xfrm>
          <a:off x="838200" y="2286000"/>
          <a:ext cx="660400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0" name="Takeaway"/>
          <p:cNvSpPr/>
          <p:nvPr/>
        </p:nvSpPr>
        <p:spPr>
          <a:xfrm>
            <a:off x="838200" y="1727200"/>
            <a:ext cx="10515600" cy="520700"/>
          </a:xfrm>
          <a:prstGeom prst="rect">
            <a:avLst/>
          </a:prstGeom>
          <a:noFill/>
          <a:ln>
            <a:noFill/>
          </a:ln>
        </p:spPr>
        <p:txBody>
          <a:bodyPr lIns="109728" tIns="82296" rIns="109728" bIns="82296" anchor="ctr">
            <a:normAutofit/>
          </a:bodyPr>
          <a:lstStyle/>
          <a:p>
            <a:r>
              <a:rPr lang="en-US" sz="1800" b="1" i="1" dirty="0">
                <a:solidFill>
                  <a:srgbClr val="C0492E"/>
                </a:solidFill>
              </a:rPr>
              <a:t>Every cohort bleeds hardest at the very first renewal.</a:t>
            </a:r>
          </a:p>
        </p:txBody>
      </p:sp>
      <p:sp>
        <p:nvSpPr>
          <p:cNvPr id="41" name="Insight"/>
          <p:cNvSpPr/>
          <p:nvPr/>
        </p:nvSpPr>
        <p:spPr>
          <a:xfrm>
            <a:off x="7620000" y="2286000"/>
            <a:ext cx="3733800" cy="3886200"/>
          </a:xfrm>
          <a:prstGeom prst="roundRect">
            <a:avLst>
              <a:gd name="adj" fmla="val 5000"/>
            </a:avLst>
          </a:prstGeom>
          <a:solidFill>
            <a:srgbClr val="1F3A5F"/>
          </a:solidFill>
          <a:ln>
            <a:noFill/>
          </a:ln>
        </p:spPr>
        <p:txBody>
          <a:bodyPr lIns="109728" tIns="82296" rIns="109728" bIns="82296" anchor="t">
            <a:normAutofit/>
          </a:bodyPr>
          <a:lstStyle/>
          <a:p>
            <a:r>
              <a:rPr lang="en-US" sz="1500" b="1" dirty="0">
                <a:solidFill>
                  <a:srgbClr val="FFFFFF"/>
                </a:solidFill>
              </a:rPr>
              <a:t>Read the curves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F2ECE2"/>
                </a:solidFill>
              </a:rPr>
              <a:t>The steepest drop is always year 0→1 — the first renewal.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F2ECE2"/>
                </a:solidFill>
              </a:rPr>
              <a:t>After that, curves flatten toward the same long-run ~19% floor.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F2ECE2"/>
                </a:solidFill>
              </a:rPr>
              <a:t>Blended first-year renewal is only ~29%: most donors are lost before we ever ask twice.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F2ECE2"/>
                </a:solidFill>
              </a:rPr>
              <a:t>Lift the first gift and the entire curve rises with it.</a:t>
            </a:r>
          </a:p>
        </p:txBody>
      </p:sp>
    </p:spTree>
    <p:extLst>
      <p:ext uri="{BB962C8B-B14F-4D97-AF65-F5344CB8AC3E}">
        <p14:creationId xmlns:p14="http://schemas.microsoft.com/office/powerpoint/2010/main" val="2218070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A16CF-C019-9144-017C-5471442E2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tx1"/>
                </a:solidFill>
              </a:rPr>
              <a:t>But our loyal base is strong</a:t>
            </a:r>
          </a:p>
        </p:txBody>
      </p:sp>
      <p:graphicFrame>
        <p:nvGraphicFramePr>
          <p:cNvPr id="50" name="Chart 1"/>
          <p:cNvGraphicFramePr/>
          <p:nvPr/>
        </p:nvGraphicFramePr>
        <p:xfrm>
          <a:off x="838200" y="2286000"/>
          <a:ext cx="660400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0" name="Takeaway"/>
          <p:cNvSpPr/>
          <p:nvPr/>
        </p:nvSpPr>
        <p:spPr>
          <a:xfrm>
            <a:off x="838200" y="1727200"/>
            <a:ext cx="10515600" cy="520700"/>
          </a:xfrm>
          <a:prstGeom prst="rect">
            <a:avLst/>
          </a:prstGeom>
          <a:noFill/>
          <a:ln>
            <a:noFill/>
          </a:ln>
        </p:spPr>
        <p:txBody>
          <a:bodyPr lIns="109728" tIns="82296" rIns="109728" bIns="82296" anchor="ctr">
            <a:normAutofit/>
          </a:bodyPr>
          <a:lstStyle/>
          <a:p>
            <a:r>
              <a:rPr lang="en-US" sz="1800" b="1" i="1" dirty="0">
                <a:solidFill>
                  <a:srgbClr val="4E7A51"/>
                </a:solidFill>
              </a:rPr>
              <a:t>The donors we keep, we keep well — our retention beats the sector.</a:t>
            </a:r>
          </a:p>
        </p:txBody>
      </p:sp>
      <p:sp>
        <p:nvSpPr>
          <p:cNvPr id="41" name="Insight"/>
          <p:cNvSpPr/>
          <p:nvPr/>
        </p:nvSpPr>
        <p:spPr>
          <a:xfrm>
            <a:off x="7620000" y="2286000"/>
            <a:ext cx="3733800" cy="3886200"/>
          </a:xfrm>
          <a:prstGeom prst="roundRect">
            <a:avLst>
              <a:gd name="adj" fmla="val 5000"/>
            </a:avLst>
          </a:prstGeom>
          <a:solidFill>
            <a:srgbClr val="2E4756"/>
          </a:solidFill>
          <a:ln>
            <a:noFill/>
          </a:ln>
        </p:spPr>
        <p:txBody>
          <a:bodyPr lIns="109728" tIns="82296" rIns="109728" bIns="82296" anchor="t">
            <a:normAutofit/>
          </a:bodyPr>
          <a:lstStyle/>
          <a:p>
            <a:r>
              <a:rPr lang="en-US" sz="1500" b="1" dirty="0">
                <a:solidFill>
                  <a:srgbClr val="FFFFFF"/>
                </a:solidFill>
              </a:rPr>
              <a:t>The good news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EAF0E7"/>
                </a:solidFill>
              </a:rPr>
              <a:t>Overall donor retention holds in a ~50–65% band, averaging ~57%.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EAF0E7"/>
                </a:solidFill>
              </a:rPr>
              <a:t>That is well above the national 43.3% — our relationships are not the problem.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EAF0E7"/>
                </a:solidFill>
              </a:rPr>
              <a:t>The strength is real, but it sits on donors we won years ago.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EAF0E7"/>
                </a:solidFill>
              </a:rPr>
              <a:t>The risk is what happens to the base we are planting now.</a:t>
            </a:r>
          </a:p>
        </p:txBody>
      </p:sp>
    </p:spTree>
    <p:extLst>
      <p:ext uri="{BB962C8B-B14F-4D97-AF65-F5344CB8AC3E}">
        <p14:creationId xmlns:p14="http://schemas.microsoft.com/office/powerpoint/2010/main" val="1696601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DCBB1-6825-A115-A2D6-7CF7598C7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tx1"/>
                </a:solidFill>
              </a:rPr>
              <a:t>The pyramid is concentrated</a:t>
            </a:r>
          </a:p>
        </p:txBody>
      </p:sp>
      <p:graphicFrame>
        <p:nvGraphicFramePr>
          <p:cNvPr id="50" name="Chart 1"/>
          <p:cNvGraphicFramePr/>
          <p:nvPr/>
        </p:nvGraphicFramePr>
        <p:xfrm>
          <a:off x="838200" y="2286000"/>
          <a:ext cx="660400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0" name="Takeaway"/>
          <p:cNvSpPr/>
          <p:nvPr/>
        </p:nvSpPr>
        <p:spPr>
          <a:xfrm>
            <a:off x="838200" y="1727200"/>
            <a:ext cx="10515600" cy="520700"/>
          </a:xfrm>
          <a:prstGeom prst="rect">
            <a:avLst/>
          </a:prstGeom>
          <a:noFill/>
          <a:ln>
            <a:noFill/>
          </a:ln>
        </p:spPr>
        <p:txBody>
          <a:bodyPr lIns="109728" tIns="82296" rIns="109728" bIns="82296" anchor="ctr">
            <a:normAutofit/>
          </a:bodyPr>
          <a:lstStyle/>
          <a:p>
            <a:r>
              <a:rPr lang="en-US" sz="1800" b="1" i="1" dirty="0">
                <a:solidFill>
                  <a:srgbClr val="C0492E"/>
                </a:solidFill>
              </a:rPr>
              <a:t>2,366 gifts — but the dollars sit at the very top.</a:t>
            </a:r>
          </a:p>
        </p:txBody>
      </p:sp>
      <p:sp>
        <p:nvSpPr>
          <p:cNvPr id="41" name="Insight"/>
          <p:cNvSpPr/>
          <p:nvPr/>
        </p:nvSpPr>
        <p:spPr>
          <a:xfrm>
            <a:off x="7620000" y="2286000"/>
            <a:ext cx="3733800" cy="3886200"/>
          </a:xfrm>
          <a:prstGeom prst="roundRect">
            <a:avLst>
              <a:gd name="adj" fmla="val 5000"/>
            </a:avLst>
          </a:prstGeom>
          <a:solidFill>
            <a:srgbClr val="1F3A5F"/>
          </a:solidFill>
          <a:ln>
            <a:noFill/>
          </a:ln>
        </p:spPr>
        <p:txBody>
          <a:bodyPr lIns="109728" tIns="82296" rIns="109728" bIns="82296" anchor="t">
            <a:normAutofit/>
          </a:bodyPr>
          <a:lstStyle/>
          <a:p>
            <a:r>
              <a:rPr lang="en-US" sz="1500" b="1" dirty="0">
                <a:solidFill>
                  <a:srgbClr val="FFFFFF"/>
                </a:solidFill>
              </a:rPr>
              <a:t>FY2026 at a glance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F2ECE2"/>
                </a:solidFill>
              </a:rPr>
              <a:t>~2,366 gifts raised ~$1.77M in total.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F2ECE2"/>
                </a:solidFill>
              </a:rPr>
              <a:t>The base (under $100) is ~1,450 gifts — the widest part of the pyramid.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F2ECE2"/>
                </a:solidFill>
              </a:rPr>
              <a:t>The apex ($25K+) is just 12 gifts, yet it carries most of the dollars.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F2ECE2"/>
                </a:solidFill>
              </a:rPr>
              <a:t>A handful of apex &amp; trust gifts hold the whole number up.</a:t>
            </a:r>
          </a:p>
        </p:txBody>
      </p:sp>
    </p:spTree>
    <p:extLst>
      <p:ext uri="{BB962C8B-B14F-4D97-AF65-F5344CB8AC3E}">
        <p14:creationId xmlns:p14="http://schemas.microsoft.com/office/powerpoint/2010/main" val="3965307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10835-2205-1F09-8488-B32997EA1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tx1"/>
                </a:solidFill>
              </a:rPr>
              <a:t>More gifts, not more money</a:t>
            </a:r>
          </a:p>
        </p:txBody>
      </p:sp>
      <p:graphicFrame>
        <p:nvGraphicFramePr>
          <p:cNvPr id="50" name="Chart Gifts"/>
          <p:cNvGraphicFramePr/>
          <p:nvPr/>
        </p:nvGraphicFramePr>
        <p:xfrm>
          <a:off x="838200" y="2387600"/>
          <a:ext cx="508000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1" name="Chart Dollars"/>
          <p:cNvGraphicFramePr/>
          <p:nvPr/>
        </p:nvGraphicFramePr>
        <p:xfrm>
          <a:off x="6172200" y="2387600"/>
          <a:ext cx="508000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0" name="Takeaway"/>
          <p:cNvSpPr/>
          <p:nvPr/>
        </p:nvSpPr>
        <p:spPr>
          <a:xfrm>
            <a:off x="838200" y="1727200"/>
            <a:ext cx="10515600" cy="520700"/>
          </a:xfrm>
          <a:prstGeom prst="rect">
            <a:avLst/>
          </a:prstGeom>
          <a:noFill/>
          <a:ln>
            <a:noFill/>
          </a:ln>
        </p:spPr>
        <p:txBody>
          <a:bodyPr lIns="109728" tIns="54864" rIns="109728" bIns="54864" anchor="ctr">
            <a:normAutofit/>
          </a:bodyPr>
          <a:lstStyle/>
          <a:p>
            <a:r>
              <a:rPr lang="en-US" sz="1800" b="1" i="1" dirty="0">
                <a:solidFill>
                  <a:srgbClr val="C0492E"/>
                </a:solidFill>
              </a:rPr>
              <a:t>Gift count is climbing (~1,600 → ~2,370) while dollars stay flat.</a:t>
            </a:r>
          </a:p>
        </p:txBody>
      </p:sp>
      <p:sp>
        <p:nvSpPr>
          <p:cNvPr id="42" name="Caption"/>
          <p:cNvSpPr/>
          <p:nvPr/>
        </p:nvSpPr>
        <p:spPr>
          <a:xfrm>
            <a:off x="838200" y="6070600"/>
            <a:ext cx="10414000" cy="469900"/>
          </a:xfrm>
          <a:prstGeom prst="roundRect">
            <a:avLst>
              <a:gd name="adj" fmla="val 8000"/>
            </a:avLst>
          </a:prstGeom>
          <a:solidFill>
            <a:srgbClr val="E8E0D4"/>
          </a:solidFill>
          <a:ln>
            <a:noFill/>
          </a:ln>
        </p:spPr>
        <p:txBody>
          <a:bodyPr lIns="109728" tIns="54864" rIns="109728" bIns="54864" anchor="ctr">
            <a:normAutofit/>
          </a:bodyPr>
          <a:lstStyle/>
          <a:p>
            <a:pPr algn="ctr"/>
            <a:r>
              <a:rPr lang="en-US" sz="1400" i="1" dirty="0">
                <a:solidFill>
                  <a:schemeClr val="tx2"/>
                </a:solidFill>
              </a:rPr>
              <a:t>FY2013’s $11.7M spike was a one-time trust harvest. Strip it out and the pattern is clear: we are doing more work for the same money.</a:t>
            </a:r>
          </a:p>
        </p:txBody>
      </p:sp>
    </p:spTree>
    <p:extLst>
      <p:ext uri="{BB962C8B-B14F-4D97-AF65-F5344CB8AC3E}">
        <p14:creationId xmlns:p14="http://schemas.microsoft.com/office/powerpoint/2010/main" val="726504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3F37D-0197-F747-5422-31D062CA0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tx1"/>
                </a:solidFill>
              </a:rPr>
              <a:t>The ten-year fuse</a:t>
            </a:r>
          </a:p>
        </p:txBody>
      </p:sp>
      <p:sp>
        <p:nvSpPr>
          <p:cNvPr id="39" name="Subhead"/>
          <p:cNvSpPr/>
          <p:nvPr/>
        </p:nvSpPr>
        <p:spPr>
          <a:xfrm>
            <a:off x="838200" y="1841500"/>
            <a:ext cx="10515600" cy="609600"/>
          </a:xfrm>
          <a:prstGeom prst="rect">
            <a:avLst/>
          </a:prstGeom>
          <a:noFill/>
          <a:ln>
            <a:noFill/>
          </a:ln>
        </p:spPr>
        <p:txBody>
          <a:bodyPr lIns="182880" tIns="45720" rIns="91440" bIns="45720" anchor="ctr">
            <a:normAutofit/>
          </a:bodyPr>
          <a:lstStyle/>
          <a:p>
            <a:pPr algn="ctr"/>
            <a:r>
              <a:rPr lang="en-US" sz="1800" i="1" dirty="0">
                <a:solidFill>
                  <a:schemeClr val="tx2"/>
                </a:solidFill>
              </a:rPr>
              <a:t>Major gifts are grown, not bought.</a:t>
            </a:r>
          </a:p>
        </p:txBody>
      </p:sp>
      <p:sp>
        <p:nvSpPr>
          <p:cNvPr id="43" name="Plant"/>
          <p:cNvSpPr/>
          <p:nvPr/>
        </p:nvSpPr>
        <p:spPr>
          <a:xfrm>
            <a:off x="838200" y="2743200"/>
            <a:ext cx="3810000" cy="1651000"/>
          </a:xfrm>
          <a:prstGeom prst="chevron">
            <a:avLst>
              <a:gd name="adj" fmla="val 45000"/>
            </a:avLst>
          </a:prstGeom>
          <a:solidFill>
            <a:srgbClr val="4E7A51"/>
          </a:solidFill>
          <a:ln>
            <a:noFill/>
          </a:ln>
        </p:spPr>
        <p:txBody>
          <a:bodyPr lIns="182880" tIns="45720" rIns="91440" bIns="4572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PLANT</a:t>
            </a:r>
          </a:p>
          <a:p>
            <a:pPr algn="ctr">
              <a:spcBef>
                <a:spcPts val="300"/>
              </a:spcBef>
            </a:pPr>
            <a:r>
              <a:rPr lang="en-US" sz="1400" dirty="0">
                <a:solidFill>
                  <a:srgbClr val="FFFFFF"/>
                </a:solidFill>
              </a:rPr>
              <a:t>Small &amp; mid gifts enter the base</a:t>
            </a:r>
          </a:p>
        </p:txBody>
      </p:sp>
      <p:sp>
        <p:nvSpPr>
          <p:cNvPr id="44" name="Grow"/>
          <p:cNvSpPr/>
          <p:nvPr/>
        </p:nvSpPr>
        <p:spPr>
          <a:xfrm>
            <a:off x="4140200" y="2743200"/>
            <a:ext cx="3810000" cy="1651000"/>
          </a:xfrm>
          <a:prstGeom prst="chevron">
            <a:avLst>
              <a:gd name="adj" fmla="val 45000"/>
            </a:avLst>
          </a:prstGeom>
          <a:solidFill>
            <a:srgbClr val="A85917"/>
          </a:solidFill>
          <a:ln>
            <a:noFill/>
          </a:ln>
        </p:spPr>
        <p:txBody>
          <a:bodyPr lIns="182880" tIns="45720" rIns="91440" bIns="4572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GROW</a:t>
            </a:r>
          </a:p>
          <a:p>
            <a:pPr algn="ctr">
              <a:spcBef>
                <a:spcPts val="300"/>
              </a:spcBef>
            </a:pPr>
            <a:r>
              <a:rPr lang="en-US" sz="1400" dirty="0">
                <a:solidFill>
                  <a:srgbClr val="FFFFFF"/>
                </a:solidFill>
              </a:rPr>
              <a:t>5–10 years of retention &amp; upgrades</a:t>
            </a:r>
          </a:p>
        </p:txBody>
      </p:sp>
      <p:sp>
        <p:nvSpPr>
          <p:cNvPr id="45" name="Harvest"/>
          <p:cNvSpPr/>
          <p:nvPr/>
        </p:nvSpPr>
        <p:spPr>
          <a:xfrm>
            <a:off x="7442200" y="2743200"/>
            <a:ext cx="3810000" cy="1651000"/>
          </a:xfrm>
          <a:prstGeom prst="chevron">
            <a:avLst>
              <a:gd name="adj" fmla="val 45000"/>
            </a:avLst>
          </a:prstGeom>
          <a:solidFill>
            <a:srgbClr val="1F3A5F"/>
          </a:solidFill>
          <a:ln>
            <a:noFill/>
          </a:ln>
        </p:spPr>
        <p:txBody>
          <a:bodyPr lIns="182880" tIns="45720" rIns="91440" bIns="4572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HARVEST</a:t>
            </a:r>
          </a:p>
          <a:p>
            <a:pPr algn="ctr">
              <a:spcBef>
                <a:spcPts val="300"/>
              </a:spcBef>
            </a:pPr>
            <a:r>
              <a:rPr lang="en-US" sz="1400" dirty="0">
                <a:solidFill>
                  <a:srgbClr val="FFFFFF"/>
                </a:solidFill>
              </a:rPr>
              <a:t>Today’s record major &amp; trust gifts</a:t>
            </a:r>
          </a:p>
        </p:txBody>
      </p:sp>
      <p:sp>
        <p:nvSpPr>
          <p:cNvPr id="46" name="Warning"/>
          <p:cNvSpPr/>
          <p:nvPr/>
        </p:nvSpPr>
        <p:spPr>
          <a:xfrm>
            <a:off x="838200" y="4876800"/>
            <a:ext cx="10515600" cy="1219200"/>
          </a:xfrm>
          <a:prstGeom prst="roundRect">
            <a:avLst>
              <a:gd name="adj" fmla="val 6000"/>
            </a:avLst>
          </a:prstGeom>
          <a:solidFill>
            <a:srgbClr val="C0492E"/>
          </a:solidFill>
          <a:ln>
            <a:noFill/>
          </a:ln>
        </p:spPr>
        <p:txBody>
          <a:bodyPr lIns="182880" tIns="45720" rIns="91440" bIns="45720" anchor="ctr">
            <a:normAutofit/>
          </a:bodyPr>
          <a:lstStyle/>
          <a:p>
            <a:pPr algn="ctr"/>
            <a:r>
              <a:rPr lang="en-US" sz="1700" b="1" dirty="0">
                <a:solidFill>
                  <a:srgbClr val="FFFFFF"/>
                </a:solidFill>
              </a:rPr>
              <a:t>Today’s apex gifts were planted 5–10 years ago. The base we are planting now is going bare — so the 2030s pipeline will be hollow.</a:t>
            </a:r>
          </a:p>
        </p:txBody>
      </p:sp>
    </p:spTree>
    <p:extLst>
      <p:ext uri="{BB962C8B-B14F-4D97-AF65-F5344CB8AC3E}">
        <p14:creationId xmlns:p14="http://schemas.microsoft.com/office/powerpoint/2010/main" val="1937048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F2E72-85BF-D479-DF36-3CF1F4687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tx1"/>
                </a:solidFill>
              </a:rPr>
              <a:t>Short-term: stop the leak this year</a:t>
            </a:r>
          </a:p>
        </p:txBody>
      </p:sp>
      <p:sp>
        <p:nvSpPr>
          <p:cNvPr id="39" name="Subhead"/>
          <p:cNvSpPr/>
          <p:nvPr/>
        </p:nvSpPr>
        <p:spPr>
          <a:xfrm>
            <a:off x="838200" y="1727200"/>
            <a:ext cx="10515600" cy="470700"/>
          </a:xfrm>
          <a:prstGeom prst="rect">
            <a:avLst/>
          </a:prstGeom>
          <a:noFill/>
          <a:ln>
            <a:noFill/>
          </a:ln>
        </p:spPr>
        <p:txBody>
          <a:bodyPr lIns="137160" tIns="109728" rIns="137160" bIns="91440" anchor="ctr">
            <a:normAutofit lnSpcReduction="10000"/>
          </a:bodyPr>
          <a:lstStyle/>
          <a:p>
            <a:r>
              <a:rPr lang="en-US" sz="1800" b="1" i="1" dirty="0">
                <a:solidFill>
                  <a:srgbClr val="C0492E"/>
                </a:solidFill>
              </a:rPr>
              <a:t>Fixes we can start now — at the front door, where the loss begins.</a:t>
            </a:r>
          </a:p>
        </p:txBody>
      </p:sp>
      <p:sp>
        <p:nvSpPr>
          <p:cNvPr id="41" name="C1"/>
          <p:cNvSpPr/>
          <p:nvPr/>
        </p:nvSpPr>
        <p:spPr>
          <a:xfrm>
            <a:off x="838200" y="2298700"/>
            <a:ext cx="3302000" cy="3937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B"/>
            </a:solidFill>
          </a:ln>
        </p:spPr>
        <p:txBody>
          <a:bodyPr lIns="137160" tIns="109728" rIns="137160" bIns="91440" anchor="t">
            <a:normAutofit/>
          </a:bodyPr>
          <a:lstStyle/>
          <a:p>
            <a:r>
              <a:rPr lang="en-US" sz="3200" b="1" dirty="0">
                <a:solidFill>
                  <a:srgbClr val="C0492E"/>
                </a:solidFill>
              </a:rPr>
              <a:t>01</a:t>
            </a:r>
          </a:p>
          <a:p>
            <a:pPr>
              <a:spcBef>
                <a:spcPts val="500"/>
              </a:spcBef>
            </a:pPr>
            <a:r>
              <a:rPr lang="en-US" sz="1700" b="1" dirty="0">
                <a:solidFill>
                  <a:schemeClr val="tx1"/>
                </a:solidFill>
              </a:rPr>
              <a:t>Launch a second-gift program</a:t>
            </a:r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chemeClr val="tx2"/>
                </a:solidFill>
              </a:rPr>
              <a:t>Ask every first-year donor again within 90 days. The first renewal is where we lose the most donors.</a:t>
            </a:r>
          </a:p>
        </p:txBody>
      </p:sp>
      <p:sp>
        <p:nvSpPr>
          <p:cNvPr id="42" name="C2"/>
          <p:cNvSpPr/>
          <p:nvPr/>
        </p:nvSpPr>
        <p:spPr>
          <a:xfrm>
            <a:off x="4445000" y="2298700"/>
            <a:ext cx="3302000" cy="3937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B"/>
            </a:solidFill>
          </a:ln>
        </p:spPr>
        <p:txBody>
          <a:bodyPr lIns="137160" tIns="109728" rIns="137160" bIns="91440" anchor="t">
            <a:normAutofit/>
          </a:bodyPr>
          <a:lstStyle/>
          <a:p>
            <a:r>
              <a:rPr lang="en-US" sz="3200" b="1" dirty="0">
                <a:solidFill>
                  <a:srgbClr val="C0492E"/>
                </a:solidFill>
              </a:rPr>
              <a:t>02</a:t>
            </a:r>
          </a:p>
          <a:p>
            <a:pPr>
              <a:spcBef>
                <a:spcPts val="500"/>
              </a:spcBef>
            </a:pPr>
            <a:r>
              <a:rPr lang="en-US" sz="1700" b="1" dirty="0">
                <a:solidFill>
                  <a:schemeClr val="tx1"/>
                </a:solidFill>
              </a:rPr>
              <a:t>Re-engage lapsed donors by name</a:t>
            </a:r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chemeClr val="tx2"/>
                </a:solidFill>
              </a:rPr>
              <a:t>Personally reconnect with large one-time gifts: Sue Sword Revocable Trust ($683K, FY2024) and Hansen Trust ($250K, FY2017).</a:t>
            </a:r>
          </a:p>
        </p:txBody>
      </p:sp>
      <p:sp>
        <p:nvSpPr>
          <p:cNvPr id="43" name="C3"/>
          <p:cNvSpPr/>
          <p:nvPr/>
        </p:nvSpPr>
        <p:spPr>
          <a:xfrm>
            <a:off x="8051800" y="2298700"/>
            <a:ext cx="3302000" cy="3937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8CB"/>
            </a:solidFill>
          </a:ln>
        </p:spPr>
        <p:txBody>
          <a:bodyPr lIns="137160" tIns="109728" rIns="137160" bIns="91440" anchor="t">
            <a:normAutofit/>
          </a:bodyPr>
          <a:lstStyle/>
          <a:p>
            <a:r>
              <a:rPr lang="en-US" sz="3200" b="1" dirty="0">
                <a:solidFill>
                  <a:srgbClr val="C0492E"/>
                </a:solidFill>
              </a:rPr>
              <a:t>03</a:t>
            </a:r>
          </a:p>
          <a:p>
            <a:pPr>
              <a:spcBef>
                <a:spcPts val="500"/>
              </a:spcBef>
            </a:pPr>
            <a:r>
              <a:rPr lang="en-US" sz="1700" b="1" dirty="0">
                <a:solidFill>
                  <a:schemeClr val="tx1"/>
                </a:solidFill>
              </a:rPr>
              <a:t>Clean duplicate records</a:t>
            </a:r>
          </a:p>
          <a:p>
            <a:pPr>
              <a:spcBef>
                <a:spcPts val="500"/>
              </a:spcBef>
            </a:pPr>
            <a:r>
              <a:rPr lang="en-US" sz="1400" dirty="0">
                <a:solidFill>
                  <a:schemeClr val="tx2"/>
                </a:solidFill>
              </a:rPr>
              <a:t>1,457 of 2,697 donors gave exactly once. Dedupe the file so we can see the true pipeline.</a:t>
            </a:r>
          </a:p>
        </p:txBody>
      </p:sp>
    </p:spTree>
    <p:extLst>
      <p:ext uri="{BB962C8B-B14F-4D97-AF65-F5344CB8AC3E}">
        <p14:creationId xmlns:p14="http://schemas.microsoft.com/office/powerpoint/2010/main" val="478246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2F1F4-61A1-A1B6-0BE8-3341A14AF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tx1"/>
                </a:solidFill>
              </a:rPr>
              <a:t>Long-term: build the pipeline</a:t>
            </a:r>
          </a:p>
        </p:txBody>
      </p:sp>
      <p:sp>
        <p:nvSpPr>
          <p:cNvPr id="39" name="Subhead"/>
          <p:cNvSpPr/>
          <p:nvPr/>
        </p:nvSpPr>
        <p:spPr>
          <a:xfrm>
            <a:off x="838200" y="1727200"/>
            <a:ext cx="10515600" cy="470700"/>
          </a:xfrm>
          <a:prstGeom prst="rect">
            <a:avLst/>
          </a:prstGeom>
          <a:noFill/>
          <a:ln>
            <a:noFill/>
          </a:ln>
        </p:spPr>
        <p:txBody>
          <a:bodyPr lIns="182880" tIns="45720" rIns="182880" bIns="91440" anchor="t">
            <a:normAutofit/>
          </a:bodyPr>
          <a:lstStyle/>
          <a:p>
            <a:r>
              <a:rPr lang="en-US" sz="1800" b="1" i="1" dirty="0">
                <a:solidFill>
                  <a:srgbClr val="1F3A5F"/>
                </a:solidFill>
              </a:rPr>
              <a:t>Design the system that grows major gifts over the next decade.</a:t>
            </a:r>
          </a:p>
        </p:txBody>
      </p:sp>
      <p:sp>
        <p:nvSpPr>
          <p:cNvPr id="41" name="C1"/>
          <p:cNvSpPr/>
          <p:nvPr/>
        </p:nvSpPr>
        <p:spPr>
          <a:xfrm>
            <a:off x="838200" y="2349500"/>
            <a:ext cx="5080000" cy="381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D8CB"/>
            </a:solidFill>
          </a:ln>
        </p:spPr>
        <p:txBody>
          <a:bodyPr lIns="182880" tIns="1257300" rIns="182880" bIns="91440" anchor="t">
            <a:normAutofit/>
          </a:bodyPr>
          <a:lstStyle/>
          <a:p>
            <a:r>
              <a:rPr lang="en-US" sz="2000" b="1" dirty="0">
                <a:solidFill>
                  <a:schemeClr val="tx1"/>
                </a:solidFill>
              </a:rPr>
              <a:t>Build a mid-tier upgrade path</a:t>
            </a:r>
          </a:p>
          <a:p>
            <a:pPr>
              <a:spcBef>
                <a:spcPts val="800"/>
              </a:spcBef>
            </a:pPr>
            <a:r>
              <a:rPr lang="en-US" sz="1600" dirty="0">
                <a:solidFill>
                  <a:schemeClr val="tx2"/>
                </a:solidFill>
              </a:rPr>
              <a:t>Create a deliberate $1K–$10K giving tier that moves loyal small and mid donors upward — the feeder stock for tomorrow’s major and planned gifts.</a:t>
            </a:r>
          </a:p>
        </p:txBody>
      </p:sp>
      <p:sp>
        <p:nvSpPr>
          <p:cNvPr id="42" name="C2"/>
          <p:cNvSpPr/>
          <p:nvPr/>
        </p:nvSpPr>
        <p:spPr>
          <a:xfrm>
            <a:off x="6223000" y="2349500"/>
            <a:ext cx="5029200" cy="381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D8CB"/>
            </a:solidFill>
          </a:ln>
        </p:spPr>
        <p:txBody>
          <a:bodyPr lIns="182880" tIns="1257300" rIns="182880" bIns="91440" anchor="t">
            <a:normAutofit/>
          </a:bodyPr>
          <a:lstStyle/>
          <a:p>
            <a:r>
              <a:rPr lang="en-US" sz="2000" b="1" dirty="0">
                <a:solidFill>
                  <a:schemeClr val="tx1"/>
                </a:solidFill>
              </a:rPr>
              <a:t>Adopt “promise-at-intake”</a:t>
            </a:r>
          </a:p>
          <a:p>
            <a:pPr>
              <a:spcBef>
                <a:spcPts val="800"/>
              </a:spcBef>
            </a:pPr>
            <a:r>
              <a:rPr lang="en-US" sz="1600" dirty="0">
                <a:solidFill>
                  <a:schemeClr val="tx2"/>
                </a:solidFill>
              </a:rPr>
              <a:t>Capture why each donor gave at the very first gift, so we can see the leak forming — and intervene before it becomes a lapse.</a:t>
            </a:r>
          </a:p>
        </p:txBody>
      </p:sp>
      <p:pic>
        <p:nvPicPr>
          <p:cNvPr id="43" name="Graphic 43" descr="Business growth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97200" y="2540000"/>
            <a:ext cx="736600" cy="736600"/>
          </a:xfrm>
          <a:prstGeom prst="rect">
            <a:avLst/>
          </a:prstGeom>
        </p:spPr>
      </p:pic>
      <p:pic>
        <p:nvPicPr>
          <p:cNvPr id="44" name="Graphic 44" descr="Handshake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69300" y="2540000"/>
            <a:ext cx="736600" cy="73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606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88F90-4FCF-6E86-0B20-95C4B4D33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tx1"/>
                </a:solidFill>
              </a:rPr>
              <a:t>The ask</a:t>
            </a:r>
          </a:p>
        </p:txBody>
      </p:sp>
      <p:sp>
        <p:nvSpPr>
          <p:cNvPr id="41" name="Statement"/>
          <p:cNvSpPr/>
          <p:nvPr/>
        </p:nvSpPr>
        <p:spPr>
          <a:xfrm>
            <a:off x="838200" y="2133600"/>
            <a:ext cx="10515600" cy="2286000"/>
          </a:xfrm>
          <a:prstGeom prst="roundRect">
            <a:avLst>
              <a:gd name="adj" fmla="val 5000"/>
            </a:avLst>
          </a:prstGeom>
          <a:solidFill>
            <a:srgbClr val="1F3A5F"/>
          </a:solidFill>
          <a:ln>
            <a:noFill/>
          </a:ln>
        </p:spPr>
        <p:txBody>
          <a:bodyPr lIns="228600" tIns="137160" rIns="228600" bIns="13716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Make first-year donor retention a board-level metric</a:t>
            </a:r>
          </a:p>
          <a:p>
            <a:pPr algn="ctr">
              <a:spcBef>
                <a:spcPts val="600"/>
              </a:spcBef>
            </a:pPr>
            <a:r>
              <a:rPr lang="en-US" sz="1800" dirty="0">
                <a:solidFill>
                  <a:srgbClr val="E8E0D4"/>
                </a:solidFill>
              </a:rPr>
              <a:t>Reviewed every quarter, owned by this board, for the new fundraising year.</a:t>
            </a:r>
          </a:p>
        </p:txBody>
      </p:sp>
      <p:sp>
        <p:nvSpPr>
          <p:cNvPr id="42" name="Metric"/>
          <p:cNvSpPr/>
          <p:nvPr/>
        </p:nvSpPr>
        <p:spPr>
          <a:xfrm>
            <a:off x="838200" y="4622800"/>
            <a:ext cx="10515600" cy="876300"/>
          </a:xfrm>
          <a:prstGeom prst="rect">
            <a:avLst/>
          </a:prstGeom>
          <a:noFill/>
          <a:ln>
            <a:noFill/>
          </a:ln>
        </p:spPr>
        <p:txBody>
          <a:bodyPr lIns="228600" tIns="137160" rIns="228600" bIns="137160" anchor="ctr">
            <a:normAutofit/>
          </a:bodyPr>
          <a:lstStyle/>
          <a:p>
            <a:pPr algn="ctr"/>
            <a:r>
              <a:rPr lang="en-US" sz="3600" b="1" dirty="0">
                <a:solidFill>
                  <a:srgbClr val="C0492E"/>
                </a:solidFill>
              </a:rPr>
              <a:t>~29% </a:t>
            </a:r>
            <a:r>
              <a:rPr lang="en-US" sz="3600" b="1" dirty="0">
                <a:solidFill>
                  <a:schemeClr val="tx2"/>
                </a:solidFill>
              </a:rPr>
              <a:t>→ </a:t>
            </a:r>
            <a:r>
              <a:rPr lang="en-US" sz="3600" b="1" dirty="0">
                <a:solidFill>
                  <a:srgbClr val="4E7A51"/>
                </a:solidFill>
              </a:rPr>
              <a:t>50%</a:t>
            </a:r>
            <a:r>
              <a:rPr lang="en-US" sz="1600" dirty="0">
                <a:solidFill>
                  <a:schemeClr val="tx2"/>
                </a:solidFill>
              </a:rPr>
              <a:t>   first-year renewal: where we start, where we aim</a:t>
            </a:r>
          </a:p>
        </p:txBody>
      </p:sp>
      <p:sp>
        <p:nvSpPr>
          <p:cNvPr id="43" name="Tagline"/>
          <p:cNvSpPr/>
          <p:nvPr/>
        </p:nvSpPr>
        <p:spPr>
          <a:xfrm>
            <a:off x="838200" y="5588000"/>
            <a:ext cx="10515600" cy="660400"/>
          </a:xfrm>
          <a:prstGeom prst="rect">
            <a:avLst/>
          </a:prstGeom>
          <a:noFill/>
          <a:ln>
            <a:noFill/>
          </a:ln>
        </p:spPr>
        <p:txBody>
          <a:bodyPr lIns="228600" tIns="137160" rIns="228600" bIns="137160" anchor="ctr">
            <a:normAutofit/>
          </a:bodyPr>
          <a:lstStyle/>
          <a:p>
            <a:pPr algn="ctr"/>
            <a:r>
              <a:rPr lang="en-US" sz="1800" b="1" i="1" dirty="0">
                <a:solidFill>
                  <a:schemeClr val="tx1"/>
                </a:solidFill>
              </a:rPr>
              <a:t>Hold the promise at the front door, and the pipeline fills itself.</a:t>
            </a:r>
          </a:p>
        </p:txBody>
      </p:sp>
    </p:spTree>
    <p:extLst>
      <p:ext uri="{BB962C8B-B14F-4D97-AF65-F5344CB8AC3E}">
        <p14:creationId xmlns:p14="http://schemas.microsoft.com/office/powerpoint/2010/main" val="861783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3822549682]">
  <a:themeElements>
    <a:clrScheme name="Office">
      <a:dk1>
        <a:srgbClr val="1C2B33"/>
      </a:dk1>
      <a:lt1>
        <a:srgbClr val="F7F4EF"/>
      </a:lt1>
      <a:dk2>
        <a:srgbClr val="2E4756"/>
      </a:dk2>
      <a:lt2>
        <a:srgbClr val="E8E0D4"/>
      </a:lt2>
      <a:accent1>
        <a:srgbClr val="1F3A5F"/>
      </a:accent1>
      <a:accent2>
        <a:srgbClr val="C0492E"/>
      </a:accent2>
      <a:accent3>
        <a:srgbClr val="4E7A51"/>
      </a:accent3>
      <a:accent4>
        <a:srgbClr val="C77D3A"/>
      </a:accent4>
      <a:accent5>
        <a:srgbClr val="6B8CAE"/>
      </a:accent5>
      <a:accent6>
        <a:srgbClr val="8A6A4F"/>
      </a:accent6>
      <a:hlink>
        <a:srgbClr val="467886"/>
      </a:hlink>
      <a:folHlink>
        <a:srgbClr val="96607D"/>
      </a:folHlink>
    </a:clrScheme>
    <a:fontScheme name="Office">
      <a:majorFont>
        <a:latin typeface="Cambria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74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530C424-3362-4FC1-B413-9E7728AAB39A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d7fbc61f-f616-484f-a328-a27e24b85df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789</TotalTime>
  <Words>808</Words>
  <Application>Microsoft Office PowerPoint</Application>
  <PresentationFormat>Widescreen</PresentationFormat>
  <Paragraphs>82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 [1783822549682]</vt:lpstr>
      <vt:lpstr>Held but Hollow</vt:lpstr>
      <vt:lpstr>The national mirror</vt:lpstr>
      <vt:lpstr>We are not the exception</vt:lpstr>
      <vt:lpstr>The leak is at the first gift</vt:lpstr>
      <vt:lpstr>But our loyal base is strong</vt:lpstr>
      <vt:lpstr>The pyramid is concentrated</vt:lpstr>
      <vt:lpstr>More gifts, not more money</vt:lpstr>
      <vt:lpstr>The ten-year fuse</vt:lpstr>
      <vt:lpstr>Short-term: stop the leak this year</vt:lpstr>
      <vt:lpstr>Long-term: build the pipeline</vt:lpstr>
      <vt:lpstr>The ask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Glen Quiring, CFRE</dc:creator>
  <cp:lastModifiedBy>Glen Quiring, CFRE</cp:lastModifiedBy>
  <cp:revision>3</cp:revision>
  <dcterms:created xsi:type="dcterms:W3CDTF">2026-07-12T02:15:49Z</dcterms:created>
  <dcterms:modified xsi:type="dcterms:W3CDTF">2026-07-12T15:53:55Z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1e8eed3-d905-479d-9a27-111bb9e4ff59_Enabled">
    <vt:lpwstr>true</vt:lpwstr>
  </property>
  <property fmtid="{D5CDD505-2E9C-101B-9397-08002B2CF9AE}" pid="3" name="MSIP_Label_21e8eed3-d905-479d-9a27-111bb9e4ff59_SetDate">
    <vt:lpwstr>2026-07-12T02:15:49Z</vt:lpwstr>
  </property>
  <property fmtid="{D5CDD505-2E9C-101B-9397-08002B2CF9AE}" pid="4" name="MSIP_Label_21e8eed3-d905-479d-9a27-111bb9e4ff59_Method">
    <vt:lpwstr>Standard</vt:lpwstr>
  </property>
  <property fmtid="{D5CDD505-2E9C-101B-9397-08002B2CF9AE}" pid="5" name="MSIP_Label_21e8eed3-d905-479d-9a27-111bb9e4ff59_Name">
    <vt:lpwstr>Sensitivity Label - Internal</vt:lpwstr>
  </property>
  <property fmtid="{D5CDD505-2E9C-101B-9397-08002B2CF9AE}" pid="6" name="MSIP_Label_21e8eed3-d905-479d-9a27-111bb9e4ff59_SiteId">
    <vt:lpwstr>74e8c284-3410-4349-85ac-7157c206039a</vt:lpwstr>
  </property>
  <property fmtid="{D5CDD505-2E9C-101B-9397-08002B2CF9AE}" pid="7" name="MSIP_Label_21e8eed3-d905-479d-9a27-111bb9e4ff59_ActionId">
    <vt:lpwstr>95ebbfd6-5250-4b0b-b1a9-d96aa5b3a0df</vt:lpwstr>
  </property>
  <property fmtid="{D5CDD505-2E9C-101B-9397-08002B2CF9AE}" pid="8" name="MSIP_Label_21e8eed3-d905-479d-9a27-111bb9e4ff59_ContentBits">
    <vt:lpwstr>0</vt:lpwstr>
  </property>
  <property fmtid="{D5CDD505-2E9C-101B-9397-08002B2CF9AE}" pid="9" name="MSIP_Label_21e8eed3-d905-479d-9a27-111bb9e4ff59_Tag">
    <vt:lpwstr>10, 3, 0, 1</vt:lpwstr>
  </property>
</Properties>
</file>